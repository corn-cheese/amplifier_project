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f128a845742a4" /><Relationship Type="http://schemas.openxmlformats.org/officeDocument/2006/relationships/extended-properties" Target="/docProps/app.xml" Id="R8a054cade1f84bec" /><Relationship Type="http://schemas.openxmlformats.org/officeDocument/2006/relationships/officeDocument" Target="/ppt/presentation.xml" Id="Rf42960b2e3114378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e58ada87e5874755"/>
  </p:sldMasterIdLst>
  <p:notesMasterIdLst>
    <p:notesMasterId r:id="R66ce00a740b1408e"/>
  </p:notesMasterIdLst>
  <p:sldIdLst>
    <p:sldId id="256" r:id="R86821ba40a5d4872"/>
    <p:sldId id="257" r:id="R6f8c006b1bbd4dff"/>
    <p:sldId id="258" r:id="R31519432df724146"/>
    <p:sldId id="259" r:id="Rfd898581a28f4885"/>
    <p:sldId id="266" r:id="R9b3f1e7c0d554a11"/>
    <p:sldId id="260" r:id="Recd4a16900c0451f"/>
    <p:sldId id="261" r:id="R8e7e659bd54846b1"/>
    <p:sldId id="262" r:id="R858f6d74e06d4e42"/>
    <p:sldId id="263" r:id="R7b7a528b7a9d435f"/>
    <p:sldId id="264" r:id="R71518f6fef584abf"/>
    <p:sldId id="265" r:id="R4142a8b1970d48b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81a8a651a7ce40da" /><ns0:Relationship Type="http://schemas.openxmlformats.org/officeDocument/2006/relationships/slideMaster" Target="/ppt/slideMasters/slideMaster1.xml" Id="Re58ada87e5874755" /><ns0:Relationship Type="http://schemas.openxmlformats.org/officeDocument/2006/relationships/notesMaster" Target="/ppt/notesMasters/notesMaster1.xml" Id="R66ce00a740b1408e" /><ns0:Relationship Type="http://schemas.openxmlformats.org/officeDocument/2006/relationships/presProps" Target="/ppt/presProps.xml" Id="Rfafcfca8e50842aa" /><ns0:Relationship Type="http://schemas.openxmlformats.org/officeDocument/2006/relationships/viewProps" Target="/ppt/viewProps.xml" Id="Rc49c9cd8c47f413c" /><ns0:Relationship Type="http://schemas.openxmlformats.org/officeDocument/2006/relationships/tableStyles" Target="/ppt/tableStyles.xml" Id="R8a180f254e44414d" /><ns0:Relationship Type="http://schemas.openxmlformats.org/officeDocument/2006/relationships/slide" Target="/ppt/slides/slide1.xml" Id="R86821ba40a5d4872" /><ns0:Relationship Type="http://schemas.openxmlformats.org/officeDocument/2006/relationships/slide" Target="/ppt/slides/slide2.xml" Id="R6f8c006b1bbd4dff" /><ns0:Relationship Type="http://schemas.openxmlformats.org/officeDocument/2006/relationships/slide" Target="/ppt/slides/slide3.xml" Id="R31519432df724146" /><ns0:Relationship Type="http://schemas.openxmlformats.org/officeDocument/2006/relationships/slide" Target="/ppt/slides/slide4.xml" Id="Rfd898581a28f4885" /><ns0:Relationship Type="http://schemas.openxmlformats.org/officeDocument/2006/relationships/slide" Target="/ppt/slides/slide5.xml" Id="Recd4a16900c0451f" /><ns0:Relationship Type="http://schemas.openxmlformats.org/officeDocument/2006/relationships/slide" Target="/ppt/slides/slide6.xml" Id="R8e7e659bd54846b1" /><ns0:Relationship Type="http://schemas.openxmlformats.org/officeDocument/2006/relationships/slide" Target="/ppt/slides/slide7.xml" Id="R858f6d74e06d4e42" /><ns0:Relationship Type="http://schemas.openxmlformats.org/officeDocument/2006/relationships/slide" Target="/ppt/slides/slide8.xml" Id="R7b7a528b7a9d435f" /><ns0:Relationship Type="http://schemas.openxmlformats.org/officeDocument/2006/relationships/slide" Target="/ppt/slides/slide9.xml" Id="R71518f6fef584abf" /><ns0:Relationship Type="http://schemas.openxmlformats.org/officeDocument/2006/relationships/slide" Target="/ppt/slides/slide10.xml" Id="R4142a8b1970d48b3" /><ns0:Relationship Type="http://schemas.openxmlformats.org/officeDocument/2006/relationships/slide" Target="/ppt/slides/slide11.xml" Id="R9b3f1e7c0d554a11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d02f02006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078936132499b" /><Relationship Type="http://schemas.openxmlformats.org/officeDocument/2006/relationships/notesMaster" Target="/ppt/notesMasters/notesMaster1.xml" Id="R13abe162f05b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462dfa84b4411" /><Relationship Type="http://schemas.openxmlformats.org/officeDocument/2006/relationships/notesMaster" Target="/ppt/notesMasters/notesMaster1.xml" Id="R130916c940d8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b8412ad944d78" /><Relationship Type="http://schemas.openxmlformats.org/officeDocument/2006/relationships/notesMaster" Target="/ppt/notesMasters/notesMaster1.xml" Id="Re89c140ac3f945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d9abf277a44d86" /><Relationship Type="http://schemas.openxmlformats.org/officeDocument/2006/relationships/notesMaster" Target="/ppt/notesMasters/notesMaster1.xml" Id="R5e35ff662d79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3a5bab6c9f491e" /><Relationship Type="http://schemas.openxmlformats.org/officeDocument/2006/relationships/notesMaster" Target="/ppt/notesMasters/notesMaster1.xml" Id="Rd8cf38bfe134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a00f423f94f3f" /><Relationship Type="http://schemas.openxmlformats.org/officeDocument/2006/relationships/notesMaster" Target="/ppt/notesMasters/notesMaster1.xml" Id="Rd97a74783318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da756da5a48cb" /><Relationship Type="http://schemas.openxmlformats.org/officeDocument/2006/relationships/notesMaster" Target="/ppt/notesMasters/notesMaster1.xml" Id="R9dd304d275a342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3d99df1a2c4730" /><Relationship Type="http://schemas.openxmlformats.org/officeDocument/2006/relationships/notesMaster" Target="/ppt/notesMasters/notesMaster1.xml" Id="Rad5000604809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3ab25e0ff143dc" /><Relationship Type="http://schemas.openxmlformats.org/officeDocument/2006/relationships/notesMaster" Target="/ppt/notesMasters/notesMaster1.xml" Id="R752a7849a9bb44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1a57f54884c48" /><Relationship Type="http://schemas.openxmlformats.org/officeDocument/2006/relationships/notesMaster" Target="/ppt/notesMasters/notesMaster1.xml" Id="Rcf5fb67a404241b5" /></Relationships>
</file>

<file path=ppt/notesSlides/_rels/notesSlide11.xml.rels><?xml version='1.0' encoding='utf-8'?>
<ns0:Relationships xmlns:ns0="http://schemas.openxmlformats.org/package/2006/relationships"><ns0:Relationship Type="http://schemas.openxmlformats.org/officeDocument/2006/relationships/slide" Target="/ppt/slides/slide11.xml" Id="R753a5bab6c9f491e" /><ns0:Relationship Type="http://schemas.openxmlformats.org/officeDocument/2006/relationships/notesMaster" Target="/ppt/notesMasters/notesMaster1.xml" Id="Rd8cf38bfe134450a" /></ns0: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3747dd2a9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20c7190ff457d" /><Relationship Type="http://schemas.openxmlformats.org/officeDocument/2006/relationships/slideLayout" Target="/ppt/slideLayouts/slideLayout1.xml" Id="R821b17fa788e40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b17fa788e40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f569c2cfb4413" /><Relationship Type="http://schemas.openxmlformats.org/officeDocument/2006/relationships/notesSlide" Target="/ppt/notesSlides/notesSlide1.xml" Id="R80760bbb6d924e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e1f259a484e06" /><Relationship Type="http://schemas.openxmlformats.org/officeDocument/2006/relationships/notesSlide" Target="/ppt/notesSlides/notesSlide2.xml" Id="R6961153c708b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53dba2e9462d" /><Relationship Type="http://schemas.openxmlformats.org/officeDocument/2006/relationships/notesSlide" Target="/ppt/notesSlides/notesSlide3.xml" Id="R5ae8db96341a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5ca988b9247d9" /><Relationship Type="http://schemas.openxmlformats.org/officeDocument/2006/relationships/notesSlide" Target="/ppt/notesSlides/notesSlide4.xml" Id="Rdafad9f693c0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9fab3e4fa4ac2" /><Relationship Type="http://schemas.openxmlformats.org/officeDocument/2006/relationships/notesSlide" Target="/ppt/notesSlides/notesSlide5.xml" Id="Ra10a138458834b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f3681fe8b4f74" /><Relationship Type="http://schemas.openxmlformats.org/officeDocument/2006/relationships/notesSlide" Target="/ppt/notesSlides/notesSlide6.xml" Id="R58076ba5182d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0cc2ffb7c46d0" /><Relationship Type="http://schemas.openxmlformats.org/officeDocument/2006/relationships/notesSlide" Target="/ppt/notesSlides/notesSlide7.xml" Id="R50344ffdc0c5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37dd43f18456b" /><Relationship Type="http://schemas.openxmlformats.org/officeDocument/2006/relationships/image" Target="/ppt/media/image.png" Id="R642ccb8a0b2b4482" /><Relationship Type="http://schemas.openxmlformats.org/officeDocument/2006/relationships/notesSlide" Target="/ppt/notesSlides/notesSlide8.xml" Id="Rdf645a2e95e948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fcc191f384c7e" /><Relationship Type="http://schemas.openxmlformats.org/officeDocument/2006/relationships/notesSlide" Target="/ppt/notesSlides/notesSlide9.xml" Id="Ra7811edb797245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5d8940504e05" /><Relationship Type="http://schemas.openxmlformats.org/officeDocument/2006/relationships/notesSlide" Target="/ppt/notesSlides/notesSlide10.xml" Id="R928dfc46e85742a6" /></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329fab3e4fa4ac2" /><ns0:Relationship Type="http://schemas.openxmlformats.org/officeDocument/2006/relationships/notesSlide" Target="/ppt/notesSlides/notesSlide11.xml" Id="Ra10a138458834bec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CCFD5-D937-4477-B41D-EA262DD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76B50-5CDA-41FC-A4F1-927D1B0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FF287-0BAA-420E-83F8-FAFD5848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BABC2-B4EE-473E-84C4-6329C47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933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AI Agent</a:t>
            </a:r>
          </a:p>
          <a:p xmlns:a="http://schemas.openxmlformats.org/drawingml/2006/main">
            <a:pPr algn="l">
              <a:def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&amp; Agentic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7F997-52AC-4D78-99E7-F25F5309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7D3EA-9A63-4E3C-BF11-91540E6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Tool Calling · Workflow Automation · Multi-Agent · LangGraph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BC9C6-1ABD-4DAA-A74F-F3BFCAE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Q5. 기존 챗봇과 무엇이 다른가?</a:t>
            </a:r>
          </a:p>
        </p:txBody>
      </p:sp>
    </p:spTree>
    <p:extLst>
      <p:ext uri="{BB962C8B-B14F-4D97-AF65-F5344CB8AC3E}">
        <p14:creationId xmlns:p14="http://schemas.microsoft.com/office/powerpoint/2010/main" val="9596246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15A6D-7546-4AC0-B517-E105360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140A1-61AE-43A9-A5FC-16852955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0253CB2-F191-49EA-9FCB-017AF1B6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문제 제시</a:t>
            </a:r>
          </a:p>
        </p:txBody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8529C49C-78C4-4C4D-9AED-822BB9AA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2BCDC-E7E3-4499-9551-B18014E3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Topic prompt: agentic workflow robustness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A1AF0-D8F1-4C82-9B06-984995A2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5EF5-78D0-4232-BBE9-C977DED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챗봇 대화는 길어질수록</a:t>
            </a:r>
          </a:p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실행 구조 없이 흔들린다.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3E91-25FE-4667-89B2-6FE89D96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Agentic AI는 단순 답변이 아니라 반복 작업을 실행한다.</a:t>
            </a:r>
          </a:p>
          <a:p xmlns:a="http://schemas.openxmlformats.org/drawingml/2006/main">
            <a:pPr algn="l">
              <a:def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그래서 상태, 로그, 분기, 실패 분석이 없으면 결과를 믿기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82B3A-C8C6-465E-B110-BCBE340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714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21678-6332-49DA-997A-F3F13CB8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반복 workflow에서 생기는 균열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DB854-D267-4D53-87B3-CE9EDD4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432AA-8D04-4C23-9B02-B90520E8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이전 상태가 대화 맥락에만 묻힘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EB00A-BD56-48AA-B640-8283523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C7301-294D-4A07-811D-774D93FD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분기 기준이 암묵적으로 바뀜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570B9-5DF8-4347-877D-C417DBE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59811-A468-40CF-9B87-2CC3117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도구 실행 로그가 흩어짐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3D47C-B768-45DB-AA58-7FB52FC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0A066-F570-4DCF-8752-E9344365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실패 후 원인 추적이 어려움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9589A-A833-44D2-8C46-9EF1873F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50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A5F5D-7ECE-433C-B592-7B1FDE28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1F0AC-D1A6-4291-A28B-47AC7AE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EEF2A-4BC6-4C05-AD5F-F31F8B2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48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A3033-45E9-4562-A7AD-87E367B7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1152E-CB60-4123-9CE7-2ED4B532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60597-F56C-4878-B584-84E94E6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48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3E47F-713A-456F-846C-03738684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5F801-02D4-4FF0-BD58-753835CA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CA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CA5C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E0BB7-ED33-4FD7-9EF3-E9D86747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123A5-A4C7-4F5F-89B7-39B8B7C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05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8AD0F-B0C1-4433-A964-75A3C9BC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1148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재시도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5A136-7822-4ADC-A3D6-04DAB8D1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문제는 반복 자체가 아니라,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반복을 검증 가능한 상태 기계로 남기지 못하는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5079758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37062-2A1A-4EB1-A984-AEF05D60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49700-D1E5-4972-993C-9675D1C2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AB446C7-67F7-4CC7-A934-BAC8A144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LangGraph 개념</a:t>
            </a:r>
          </a:p>
        </p:txBody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3339E40-3BAE-4026-B6F0-07A02AF6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B568A-1760-46F8-B70D-476B336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LangGraph overview, workflows/agents, persistence, interrupts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1AD2A-C9CB-4DD3-BC55-A502FB7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A255C-EA2A-4AD5-AA02-FA49A998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LangGraph는 agent를</a:t>
            </a:r>
          </a:p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상태를 가진 graph로 실행한다.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DCE4D-6246-482C-B028-4CD77443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핵심은 LLM을 더 크게 쓰는 것이 아니라,</a:t>
            </a:r>
          </a:p>
          <a:p xmlns:a="http://schemas.openxmlformats.org/drawingml/2006/main"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LLM·도구·검증·사람 개입을 명시적 node와 route로 묶는 것이다.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E370A-C403-47CA-B6E0-DF9203AC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4D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C445B-FC47-469D-9554-FD96283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9E2B7-ADDD-4BA3-B4A0-1E103AFF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작업 기억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metrics/log/context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ADA26-1D66-48C6-A082-04BD8AB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E88BC-DA1E-4A49-B32E-7BC9C792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8D9C1-21CF-473C-BBAD-F84D403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57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LLM 호출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Tool 실행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검증 함수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415BC-D3A2-4B4F-91CD-DE35C86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C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27B7D-5BA5-4EDF-9790-97D4B98A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AD76D-70C0-4C84-9F77-91CCD0D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57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조건 분기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retry / stop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human interrupt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596E8-7281-4378-9D85-931B173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DAA31-E261-4420-A5A5-CC3A68A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BEE77-FB2F-4611-A731-3E5496C3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재시작과 감사</a:t>
            </a:r>
          </a:p>
          <a:p xmlns:a="http://schemas.openxmlformats.org/drawingml/2006/main"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실패 지점 복원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16689-3C4C-43A7-851F-440C2252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12D95-EA59-4470-97DC-3BD3E562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24B79-CDBE-428A-95A5-CA30E68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0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ECD04-8D58-47B9-A9CC-B4549139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BEADF-19B7-4BC9-84AD-1F64EA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2번 문제와의 연결: 상태는 파일/체크포인트에 남고, 분기는 edge로 고정되며, 실패는 로그와 interrupt로 분석 가능한 사건이 된다.</a:t>
            </a:r>
          </a:p>
        </p:txBody>
      </p:sp>
    </p:spTree>
    <p:extLst>
      <p:ext uri="{BB962C8B-B14F-4D97-AF65-F5344CB8AC3E}">
        <p14:creationId xmlns:p14="http://schemas.microsoft.com/office/powerpoint/2010/main" val="21017082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0F908-D989-4D93-84C7-E2BE049C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A4BA8-8C20-4C7B-83D1-8BCE3D6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A4CEBB84-9922-43DD-BDE2-E91C841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장단점</a:t>
            </a:r>
          </a:p>
        </p:txBody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2ACE6ED-A404-4E44-9387-5021657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A137F-5B3D-4F9B-8E0B-5EEFE7B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LangGraph docs and project implementation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A718B-E3DD-4B50-A73A-1CE790D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A5CEB-6552-48A6-8D3F-9C15B083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LangGraph는 제어권을 주지만,</a:t>
            </a:r>
          </a:p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그만큼 설계 책임도 요구한다.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0F728-6E47-4C22-AFE0-865F6DEF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70F0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AD971-0491-4B37-9309-4DE1AC43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0B0D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F3E71-7BAA-4892-AF7E-2783DCDD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rPr>
              <a:t>장점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E4381-5C2B-484B-B979-037F37E4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단점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54B5A-414F-438D-A21C-E5775AA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69127-54BA-466A-9D7D-BC8E9241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상태 기반 workflow 제어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7AEDA-2C27-4F43-8A88-E78E0D4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59EA2-3B35-43ED-B788-85ED825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조건 분기와 중단 지점 명시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6EC01-D42C-4743-95A8-CF0ED6E2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AE7A6-74DD-4106-BBFE-EF1EE11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24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재시작·재개·human-in-the-loop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491A8-E1BD-4F2B-A6EE-E1D37EA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43F3C-C467-4B3E-AA58-4D44165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Tool 호출과 검증을 같은 graph에 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2858C-F15E-458A-86E3-6D982B4E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F4E21-047E-40B2-87AD-CF9EEBE0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복잡한 실행 경로를 로그로 추적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0FFA6-151D-41CD-B3C1-2616852D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4A18B-C31C-4D99-B757-4591574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861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초기 graph 설계 비용 증가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78522-C14B-4065-BEE5-6B1A357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D30B5-32C9-4677-9E84-D3D28B4E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242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state schema와 artifact 계약 관리 필요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4D8EB-74D0-410D-A8D5-ED041A5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E9D63-67C6-455D-98D1-37A1745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도메인 검증 로직은 직접 구현해야 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9DEC4-8B77-4FA8-9291-C96A518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7AC0A-EDFA-48A5-8C9A-D241BC5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작은 문제에는 과한 구조가 될 수 있음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16DC6-94B7-4210-927F-6370F17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9743D-BC40-4997-AF6B-7C5F57B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38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LLM 품질 문제를 자동으로 해결하지는 않음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D9F51-039A-47B2-B3AD-62A311A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요약: LangGraph는 답변 품질을 직접 보장하기보다, 실행 과정을 통제하고 검증 가능하게 만드는 프레임이다.</a:t>
            </a:r>
          </a:p>
        </p:txBody>
      </p:sp>
    </p:spTree>
    <p:extLst>
      <p:ext uri="{BB962C8B-B14F-4D97-AF65-F5344CB8AC3E}">
        <p14:creationId xmlns:p14="http://schemas.microsoft.com/office/powerpoint/2010/main" val="577147778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0614D40-6D6E-42B9-A504-D9DC9FBB2D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A4285843-5CE4-4BFA-B7D1-0753A16C0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>
              <a:ext uri="{FF2B5EF4-FFF2-40B4-BE49-F238E27FC236}">
                <ns2:creationId id="{80EFA503-0324-42EC-A48E-3018322F289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Amplifier Project 문제</a:t>
            </a:r>
          </a:p>
        </p:txBody>
      </p:sp>
      <p:sp>
        <p:nvSpPr>
          <p:cNvPr id="4" name="kicker-05-marker">
            <a:extLst>
              <a:ext uri="{FF2B5EF4-FFF2-40B4-BE49-F238E27FC236}">
                <ns2:creationId id="{F4DE482A-97C6-4AD3-BDAE-09A65BFAE658}"/>
              </a:ext>
            </a:extLst>
          </p:cNvPr>
          <p:cNvSpPr>
            <a:spLocks noGrp="1"/>
          </p:cNvSpPr>
          <p:nvPr/>
        </p:nvSpPr>
        <p:spPr>
          <a:xfrm>
            <a:off x="381000" y="428625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AAF7AFC0-B69B-4F66-A2DD-A5F6224EBC30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docs/top-coordinator-contract.md, runner_config.json</a:t>
            </a:r>
          </a:p>
        </p:txBody>
      </p:sp>
      <p:sp>
        <p:nvSpPr>
          <p:cNvPr id="6" name="">
            <a:extLst>
              <a:ext uri="{FF2B5EF4-FFF2-40B4-BE49-F238E27FC236}">
                <ns2:creationId id="{57708807-2AF3-4F89-AE66-352585A188D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>
              <a:ext uri="{FF2B5EF4-FFF2-40B4-BE49-F238E27FC236}">
                <ns2:creationId id="{2F62C910-4F76-4F19-A915-E62EDEDB130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회로 후보를 많이 만드는 것보다</a:t>
            </a:r>
          </a:p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틀린 후보를 걸러내는 구조가 더 중요했다.</a:t>
            </a:r>
          </a:p>
        </p:txBody>
      </p:sp>
      <p:sp>
        <p:nvSpPr>
          <p:cNvPr id="8" name="">
            <a:extLst>
              <a:ext uri="{FF2B5EF4-FFF2-40B4-BE49-F238E27FC236}">
                <ns2:creationId id="{65B0D840-FF0C-4D7D-A41A-08A49AC4F167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LLM은 topology와 parameter 가설을 빠르게 낸다. 하지만 회로 탐색은 자연어 설득이 아니라 Spectre 검증과 artifact 증거로 닫혀야 한다.</a:t>
            </a:r>
          </a:p>
        </p:txBody>
      </p:sp>
      <p:sp>
        <p:nvSpPr>
          <p:cNvPr id="9" name="">
            <a:extLst>
              <a:ext uri="{FF2B5EF4-FFF2-40B4-BE49-F238E27FC236}">
                <ns2:creationId id="{B418DBD7-9BDA-4790-9E25-B49B52E2746A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4DD7F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8717EE9-EA7C-48AD-A521-1705DD4B0919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LLM 후보 생성</a:t>
            </a:r>
          </a:p>
        </p:txBody>
      </p:sp>
      <p:sp>
        <p:nvSpPr>
          <p:cNvPr id="11" name="">
            <a:extLst>
              <a:ext uri="{FF2B5EF4-FFF2-40B4-BE49-F238E27FC236}">
                <ns2:creationId id="{B4FE5A5D-E13E-424E-9BB6-EEB2845772C4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patch.diff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proposal.json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notes.md</a:t>
            </a:r>
          </a:p>
        </p:txBody>
      </p:sp>
      <p:sp>
        <p:nvSpPr>
          <p:cNvPr id="12" name="">
            <a:extLst>
              <a:ext uri="{FF2B5EF4-FFF2-40B4-BE49-F238E27FC236}">
                <ns2:creationId id="{C642353A-E6F2-4558-83ED-4C03BBA0C98A}"/>
              </a:ext>
            </a:extLst>
          </p:cNvPr>
          <p:cNvSpPr>
            <a:spLocks noGrp="1"/>
          </p:cNvSpPr>
          <p:nvPr/>
        </p:nvSpPr>
        <p:spPr>
          <a:xfrm>
            <a:off x="3048000" y="3962400"/>
            <a:ext cx="34290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551AE145-9008-4B8F-A659-4B00055BEDAE}"/>
              </a:ext>
            </a:extLst>
          </p:cNvPr>
          <p:cNvSpPr>
            <a:spLocks noGrp="1"/>
          </p:cNvSpPr>
          <p:nvPr/>
        </p:nvSpPr>
        <p:spPr>
          <a:xfrm>
            <a:off x="3105150" y="3790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>
              <a:ext uri="{FF2B5EF4-FFF2-40B4-BE49-F238E27FC236}">
                <ns2:creationId id="{E553EFDC-DC55-44DF-9A7A-7B26CAB81456}"/>
              </a:ext>
            </a:extLst>
          </p:cNvPr>
          <p:cNvSpPr>
            <a:spLocks noGrp="1"/>
          </p:cNvSpPr>
          <p:nvPr/>
        </p:nvSpPr>
        <p:spPr>
          <a:xfrm>
            <a:off x="34861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FFCA5C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09E43B31-E050-4407-88DF-03ED28B130A4}"/>
              </a:ext>
            </a:extLst>
          </p:cNvPr>
          <p:cNvSpPr>
            <a:spLocks noGrp="1"/>
          </p:cNvSpPr>
          <p:nvPr/>
        </p:nvSpPr>
        <p:spPr>
          <a:xfrm>
            <a:off x="36766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Hard invariants</a:t>
            </a:r>
          </a:p>
        </p:txBody>
      </p:sp>
      <p:sp>
        <p:nvSpPr>
          <p:cNvPr id="16" name="">
            <a:extLst>
              <a:ext uri="{FF2B5EF4-FFF2-40B4-BE49-F238E27FC236}">
                <ns2:creationId id="{B097AFE0-1ECC-48C5-8244-274F841B8D5F}"/>
              </a:ext>
            </a:extLst>
          </p:cNvPr>
          <p:cNvSpPr>
            <a:spLocks noGrp="1"/>
          </p:cNvSpPr>
          <p:nvPr/>
        </p:nvSpPr>
        <p:spPr>
          <a:xfrm>
            <a:off x="36766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pin contract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forbidden shortcut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file scope</a:t>
            </a:r>
          </a:p>
        </p:txBody>
      </p:sp>
      <p:sp>
        <p:nvSpPr>
          <p:cNvPr id="17" name="">
            <a:extLst>
              <a:ext uri="{FF2B5EF4-FFF2-40B4-BE49-F238E27FC236}">
                <ns2:creationId id="{395229AA-7F1D-43E3-AD08-D8F9446BFB93}"/>
              </a:ext>
            </a:extLst>
          </p:cNvPr>
          <p:cNvSpPr>
            <a:spLocks noGrp="1"/>
          </p:cNvSpPr>
          <p:nvPr/>
        </p:nvSpPr>
        <p:spPr>
          <a:xfrm>
            <a:off x="5791200" y="3962400"/>
            <a:ext cx="34290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D231856F-ADA3-4007-AEE9-DB96A740F36E}"/>
              </a:ext>
            </a:extLst>
          </p:cNvPr>
          <p:cNvSpPr>
            <a:spLocks noGrp="1"/>
          </p:cNvSpPr>
          <p:nvPr/>
        </p:nvSpPr>
        <p:spPr>
          <a:xfrm>
            <a:off x="5848350" y="3790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>
              <a:ext uri="{FF2B5EF4-FFF2-40B4-BE49-F238E27FC236}">
                <ns2:creationId id="{FB070D04-0484-464E-8473-47FAF3DA612F}"/>
              </a:ext>
            </a:extLst>
          </p:cNvPr>
          <p:cNvSpPr>
            <a:spLocks noGrp="1"/>
          </p:cNvSpPr>
          <p:nvPr/>
        </p:nvSpPr>
        <p:spPr>
          <a:xfrm>
            <a:off x="62293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70F0A0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1F5202CD-AE19-4AF5-BAC0-8DD27395F96E}"/>
              </a:ext>
            </a:extLst>
          </p:cNvPr>
          <p:cNvSpPr>
            <a:spLocks noGrp="1"/>
          </p:cNvSpPr>
          <p:nvPr/>
        </p:nvSpPr>
        <p:spPr>
          <a:xfrm>
            <a:off x="64198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EDA 검증</a:t>
            </a:r>
          </a:p>
        </p:txBody>
      </p:sp>
      <p:sp>
        <p:nvSpPr>
          <p:cNvPr id="21" name="">
            <a:extLst>
              <a:ext uri="{FF2B5EF4-FFF2-40B4-BE49-F238E27FC236}">
                <ns2:creationId id="{5A7AD0F8-82C3-429E-962A-6A65DC792098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Spectre logs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ppa_metrics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verification.json</a:t>
            </a:r>
          </a:p>
        </p:txBody>
      </p:sp>
      <p:sp>
        <p:nvSpPr>
          <p:cNvPr id="22" name="">
            <a:extLst>
              <a:ext uri="{FF2B5EF4-FFF2-40B4-BE49-F238E27FC236}">
                <ns2:creationId id="{8466F8C8-9A22-47B3-B12B-F4B9316EE61E}"/>
              </a:ext>
            </a:extLst>
          </p:cNvPr>
          <p:cNvSpPr>
            <a:spLocks noGrp="1"/>
          </p:cNvSpPr>
          <p:nvPr/>
        </p:nvSpPr>
        <p:spPr>
          <a:xfrm>
            <a:off x="8534400" y="3962400"/>
            <a:ext cx="34290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5130D90C-15C1-4B67-BA2A-E4CB5049B2BE}"/>
              </a:ext>
            </a:extLst>
          </p:cNvPr>
          <p:cNvSpPr>
            <a:spLocks noGrp="1"/>
          </p:cNvSpPr>
          <p:nvPr/>
        </p:nvSpPr>
        <p:spPr>
          <a:xfrm>
            <a:off x="8591550" y="3790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>
              <a:ext uri="{FF2B5EF4-FFF2-40B4-BE49-F238E27FC236}">
                <ns2:creationId id="{3CCBB581-0E95-4199-B19A-6D109DBEEA2C}"/>
              </a:ext>
            </a:extLst>
          </p:cNvPr>
          <p:cNvSpPr>
            <a:spLocks noGrp="1"/>
          </p:cNvSpPr>
          <p:nvPr/>
        </p:nvSpPr>
        <p:spPr>
          <a:xfrm>
            <a:off x="89725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FC9C841A-9828-46C4-AEC8-890A3076D021}"/>
              </a:ext>
            </a:extLst>
          </p:cNvPr>
          <p:cNvSpPr>
            <a:spLocks noGrp="1"/>
          </p:cNvSpPr>
          <p:nvPr/>
        </p:nvSpPr>
        <p:spPr>
          <a:xfrm>
            <a:off x="91630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기록/승격</a:t>
            </a:r>
          </a:p>
        </p:txBody>
      </p:sp>
      <p:sp>
        <p:nvSpPr>
          <p:cNvPr id="26" name="">
            <a:extLst>
              <a:ext uri="{FF2B5EF4-FFF2-40B4-BE49-F238E27FC236}">
                <ns2:creationId id="{18D3E257-DF48-4AEA-B520-F1DEB70870FE}"/>
              </a:ext>
            </a:extLst>
          </p:cNvPr>
          <p:cNvSpPr>
            <a:spLocks noGrp="1"/>
          </p:cNvSpPr>
          <p:nvPr/>
        </p:nvSpPr>
        <p:spPr>
          <a:xfrm>
            <a:off x="91630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ledger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state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accepted only</a:t>
            </a:r>
          </a:p>
        </p:txBody>
      </p:sp>
      <p:sp>
        <p:nvSpPr>
          <p:cNvPr id="27" name="">
            <a:extLst>
              <a:ext uri="{FF2B5EF4-FFF2-40B4-BE49-F238E27FC236}">
                <ns2:creationId id="{91C74D4D-108F-4A6E-9C04-DA6B84DC36A6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9525000" cy="552450"/>
          </a:xfrm>
          <a:prstGeom prst="rect">
            <a:avLst/>
          </a:prstGeom>
          <a:solidFill>
            <a:srgbClr val="070B12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87B13E16-7D89-48CF-8279-2905E8C876F2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거시 문제: 반복 탐색을 자동화하되, 평가 조건·파일 범위·검증 산출물·실패 원인이 항상 남아야 한다.</a:t>
            </a:r>
          </a:p>
        </p:txBody>
      </p:sp>
    </p:spTree>
    <p:extLst>
      <p:ext uri="{BB962C8B-B14F-4D97-AF65-F5344CB8AC3E}">
        <ns3:creationId val="1815864421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24F553F-0C34-465C-B10B-CA674BEB94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782DC6B1-78C1-435C-B5A3-0BFEA3C559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>
              <a:ext uri="{FF2B5EF4-FFF2-40B4-BE49-F238E27FC236}">
                <ns2:creationId id="{0C87B2C8-BC8D-4788-A656-C3BA80F289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실제 Workflow 구조화</a:t>
            </a:r>
          </a:p>
        </p:txBody>
      </p:sp>
      <p:sp>
        <p:nvSpPr>
          <p:cNvPr id="4" name="kicker-06-marker">
            <a:extLst>
              <a:ext uri="{FF2B5EF4-FFF2-40B4-BE49-F238E27FC236}">
                <ns2:creationId id="{EAF27864-0176-450E-9924-B671A2FC94CE}"/>
              </a:ext>
            </a:extLst>
          </p:cNvPr>
          <p:cNvSpPr>
            <a:spLocks noGrp="1"/>
          </p:cNvSpPr>
          <p:nvPr/>
        </p:nvSpPr>
        <p:spPr>
          <a:xfrm>
            <a:off x="381000" y="428625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3E08DB0E-4129-4BEE-8CCA-79EA47DC8BDC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langgraph_runner/graph.py, docs/langgraph-runner.md</a:t>
            </a:r>
          </a:p>
        </p:txBody>
      </p:sp>
      <p:sp>
        <p:nvSpPr>
          <p:cNvPr id="6" name="">
            <a:extLst>
              <a:ext uri="{FF2B5EF4-FFF2-40B4-BE49-F238E27FC236}">
                <ns2:creationId id="{C1399082-CD7F-4922-B077-A5725205E09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>
              <a:ext uri="{FF2B5EF4-FFF2-40B4-BE49-F238E27FC236}">
                <ns2:creationId id="{F9F243ED-765F-4E1D-8961-7EB931D0C98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Topology → Verifier → Sweep → 검증을</a:t>
            </a:r>
          </a:p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LangGraph workflow로 구조화했다.</a:t>
            </a:r>
          </a:p>
        </p:txBody>
      </p:sp>
      <p:sp>
        <p:nvSpPr>
          <p:cNvPr id="8" name="">
            <a:extLst>
              <a:ext uri="{FF2B5EF4-FFF2-40B4-BE49-F238E27FC236}">
                <ns2:creationId id="{861E1D3B-9735-4F4C-ACA5-80D5B6873AEE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2343150" cy="1371600"/>
          </a:xfrm>
          <a:prstGeom prst="rect">
            <a:avLst/>
          </a:prstGeom>
          <a:solidFill>
            <a:srgbClr val="081019"/>
          </a:solidFill>
          <a:ln w="9525">
            <a:solidFill>
              <a:srgbClr val="4DD7FF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4D6307E7-886B-4E69-A18C-31FF5F281A7B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Topology proposal</a:t>
            </a:r>
          </a:p>
        </p:txBody>
      </p:sp>
      <p:sp>
        <p:nvSpPr>
          <p:cNvPr id="10" name="">
            <a:extLst>
              <a:ext uri="{FF2B5EF4-FFF2-40B4-BE49-F238E27FC236}">
                <ns2:creationId id="{357512E6-FFD5-4E17-8C30-1A0A55CF2CF5}"/>
              </a:ext>
            </a:extLst>
          </p:cNvPr>
          <p:cNvSpPr>
            <a:spLocks noGrp="1"/>
          </p:cNvSpPr>
          <p:nvPr/>
        </p:nvSpPr>
        <p:spPr>
          <a:xfrm>
            <a:off x="704850" y="3314700"/>
            <a:ext cx="2000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plan_batch</a:t>
            </a:r>
          </a:p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spawn_subagents</a:t>
            </a:r>
          </a:p>
        </p:txBody>
      </p:sp>
      <p:sp>
        <p:nvSpPr>
          <p:cNvPr id="11" name="">
            <a:extLst>
              <a:ext uri="{FF2B5EF4-FFF2-40B4-BE49-F238E27FC236}">
                <ns2:creationId id="{7478D976-EFF3-46C5-93A1-B79D90D6CFE2}"/>
              </a:ext>
            </a:extLst>
          </p:cNvPr>
          <p:cNvSpPr>
            <a:spLocks noGrp="1"/>
          </p:cNvSpPr>
          <p:nvPr/>
        </p:nvSpPr>
        <p:spPr>
          <a:xfrm>
            <a:off x="2971800" y="3352800"/>
            <a:ext cx="32385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250E4063-6413-4B1A-BC91-C052E7B29848}"/>
              </a:ext>
            </a:extLst>
          </p:cNvPr>
          <p:cNvSpPr>
            <a:spLocks noGrp="1"/>
          </p:cNvSpPr>
          <p:nvPr/>
        </p:nvSpPr>
        <p:spPr>
          <a:xfrm>
            <a:off x="3028950" y="31813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>
              <a:ext uri="{FF2B5EF4-FFF2-40B4-BE49-F238E27FC236}">
                <ns2:creationId id="{A44C69A6-9AC0-4FD1-9ED6-0E896A8E0F95}"/>
              </a:ext>
            </a:extLst>
          </p:cNvPr>
          <p:cNvSpPr>
            <a:spLocks noGrp="1"/>
          </p:cNvSpPr>
          <p:nvPr/>
        </p:nvSpPr>
        <p:spPr>
          <a:xfrm>
            <a:off x="3390900" y="2686050"/>
            <a:ext cx="2343150" cy="1371600"/>
          </a:xfrm>
          <a:prstGeom prst="rect">
            <a:avLst/>
          </a:prstGeom>
          <a:solidFill>
            <a:srgbClr val="081019"/>
          </a:solidFill>
          <a:ln w="9525">
            <a:solidFill>
              <a:srgbClr val="FFCA5C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3CD2872B-1232-443E-9B7E-014620427FC6}"/>
              </a:ext>
            </a:extLst>
          </p:cNvPr>
          <p:cNvSpPr>
            <a:spLocks noGrp="1"/>
          </p:cNvSpPr>
          <p:nvPr/>
        </p:nvSpPr>
        <p:spPr>
          <a:xfrm>
            <a:off x="3562350" y="28384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Deterministic reviewer</a:t>
            </a:r>
          </a:p>
        </p:txBody>
      </p:sp>
      <p:sp>
        <p:nvSpPr>
          <p:cNvPr id="15" name="">
            <a:extLst>
              <a:ext uri="{FF2B5EF4-FFF2-40B4-BE49-F238E27FC236}">
                <ns2:creationId id="{231773F4-0F76-4EC2-9F78-33CFF4F10797}"/>
              </a:ext>
            </a:extLst>
          </p:cNvPr>
          <p:cNvSpPr>
            <a:spLocks noGrp="1"/>
          </p:cNvSpPr>
          <p:nvPr/>
        </p:nvSpPr>
        <p:spPr>
          <a:xfrm>
            <a:off x="3562350" y="3314700"/>
            <a:ext cx="2000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assemble_candidate_proposals</a:t>
            </a:r>
          </a:p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deterministic_review</a:t>
            </a:r>
          </a:p>
        </p:txBody>
      </p:sp>
      <p:sp>
        <p:nvSpPr>
          <p:cNvPr id="16" name="">
            <a:extLst>
              <a:ext uri="{FF2B5EF4-FFF2-40B4-BE49-F238E27FC236}">
                <ns2:creationId id="{6DD5B43C-E334-43B1-AED5-5F8CCFC3D8FC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32385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91726ADD-4AE1-45EF-BAEA-DBA86597A8C8}"/>
              </a:ext>
            </a:extLst>
          </p:cNvPr>
          <p:cNvSpPr>
            <a:spLocks noGrp="1"/>
          </p:cNvSpPr>
          <p:nvPr/>
        </p:nvSpPr>
        <p:spPr>
          <a:xfrm>
            <a:off x="5886450" y="31813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>
              <a:ext uri="{FF2B5EF4-FFF2-40B4-BE49-F238E27FC236}">
                <ns2:creationId id="{D60DA9C7-871B-44EC-BAED-40D40EEFDFCA}"/>
              </a:ext>
            </a:extLst>
          </p:cNvPr>
          <p:cNvSpPr>
            <a:spLocks noGrp="1"/>
          </p:cNvSpPr>
          <p:nvPr/>
        </p:nvSpPr>
        <p:spPr>
          <a:xfrm>
            <a:off x="6248400" y="2686050"/>
            <a:ext cx="2343150" cy="1371600"/>
          </a:xfrm>
          <a:prstGeom prst="rect">
            <a:avLst/>
          </a:prstGeom>
          <a:solidFill>
            <a:srgbClr val="081019"/>
          </a:solidFill>
          <a:ln w="9525">
            <a:solidFill>
              <a:srgbClr val="70F0A0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116EFF37-1420-4639-A4C2-76AC1A2B9104}"/>
              </a:ext>
            </a:extLst>
          </p:cNvPr>
          <p:cNvSpPr>
            <a:spLocks noGrp="1"/>
          </p:cNvSpPr>
          <p:nvPr/>
        </p:nvSpPr>
        <p:spPr>
          <a:xfrm>
            <a:off x="6419850" y="28384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Sweep / EDA verification</a:t>
            </a:r>
          </a:p>
        </p:txBody>
      </p:sp>
      <p:sp>
        <p:nvSpPr>
          <p:cNvPr id="20" name="">
            <a:extLst>
              <a:ext uri="{FF2B5EF4-FFF2-40B4-BE49-F238E27FC236}">
                <ns2:creationId id="{62D402B9-D5DA-40F4-8818-38933EBD53BC}"/>
              </a:ext>
            </a:extLst>
          </p:cNvPr>
          <p:cNvSpPr>
            <a:spLocks noGrp="1"/>
          </p:cNvSpPr>
          <p:nvPr/>
        </p:nvSpPr>
        <p:spPr>
          <a:xfrm>
            <a:off x="6419850" y="3314700"/>
            <a:ext cx="2000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verify_queue</a:t>
            </a:r>
          </a:p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required outputs</a:t>
            </a:r>
          </a:p>
        </p:txBody>
      </p:sp>
      <p:sp>
        <p:nvSpPr>
          <p:cNvPr id="21" name="">
            <a:extLst>
              <a:ext uri="{FF2B5EF4-FFF2-40B4-BE49-F238E27FC236}">
                <ns2:creationId id="{3DEB5ABF-9079-407E-B481-DD6C633ECCC6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32385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6AF1A3D0-ACE8-4664-AEF5-E8305694E037}"/>
              </a:ext>
            </a:extLst>
          </p:cNvPr>
          <p:cNvSpPr>
            <a:spLocks noGrp="1"/>
          </p:cNvSpPr>
          <p:nvPr/>
        </p:nvSpPr>
        <p:spPr>
          <a:xfrm>
            <a:off x="8743950" y="31813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>
              <a:ext uri="{FF2B5EF4-FFF2-40B4-BE49-F238E27FC236}">
                <ns2:creationId id="{EBBA6396-46B4-4A67-A3AE-C4D1B189B611}"/>
              </a:ext>
            </a:extLst>
          </p:cNvPr>
          <p:cNvSpPr>
            <a:spLocks noGrp="1"/>
          </p:cNvSpPr>
          <p:nvPr/>
        </p:nvSpPr>
        <p:spPr>
          <a:xfrm>
            <a:off x="9105900" y="2686050"/>
            <a:ext cx="2343150" cy="1371600"/>
          </a:xfrm>
          <a:prstGeom prst="rect">
            <a:avLst/>
          </a:prstGeom>
          <a:solidFill>
            <a:srgbClr val="081019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C94B4229-7F4D-4A05-BEB7-9EE0D09AE06A}"/>
              </a:ext>
            </a:extLst>
          </p:cNvPr>
          <p:cNvSpPr>
            <a:spLocks noGrp="1"/>
          </p:cNvSpPr>
          <p:nvPr/>
        </p:nvSpPr>
        <p:spPr>
          <a:xfrm>
            <a:off x="9277350" y="28384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Evaluation / promotion</a:t>
            </a:r>
          </a:p>
        </p:txBody>
      </p:sp>
      <p:sp>
        <p:nvSpPr>
          <p:cNvPr id="25" name="">
            <a:extLst>
              <a:ext uri="{FF2B5EF4-FFF2-40B4-BE49-F238E27FC236}">
                <ns2:creationId id="{CA0F3E82-9DFC-4640-8F82-1840917B94FF}"/>
              </a:ext>
            </a:extLst>
          </p:cNvPr>
          <p:cNvSpPr>
            <a:spLocks noGrp="1"/>
          </p:cNvSpPr>
          <p:nvPr/>
        </p:nvSpPr>
        <p:spPr>
          <a:xfrm>
            <a:off x="9277350" y="3314700"/>
            <a:ext cx="20002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evaluate_candidates</a:t>
            </a:r>
          </a:p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record_batch</a:t>
            </a:r>
          </a:p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route_next</a:t>
            </a:r>
          </a:p>
        </p:txBody>
      </p:sp>
      <p:sp>
        <p:nvSpPr>
          <p:cNvPr id="26" name="">
            <a:extLst>
              <a:ext uri="{FF2B5EF4-FFF2-40B4-BE49-F238E27FC236}">
                <ns2:creationId id="{5D350B19-1ECA-4490-945B-B81459AD7E69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9429750" cy="952500"/>
          </a:xfrm>
          <a:prstGeom prst="rect">
            <a:avLst/>
          </a:prstGeom>
          <a:solidFill>
            <a:srgbClr val="070B12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1879F502-FC02-4A0A-A370-4B4112003112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rPr>
              <a:t>Canonical state &amp; artifacts</a:t>
            </a:r>
          </a:p>
        </p:txBody>
      </p:sp>
      <p:sp>
        <p:nvSpPr>
          <p:cNvPr id="28" name="">
            <a:extLst>
              <a:ext uri="{FF2B5EF4-FFF2-40B4-BE49-F238E27FC236}">
                <ns2:creationId id="{9A44A01B-EAD8-4585-90CA-C4FC8B566860}"/>
              </a:ext>
            </a:extLst>
          </p:cNvPr>
          <p:cNvSpPr>
            <a:spLocks noGrp="1"/>
          </p:cNvSpPr>
          <p:nvPr/>
        </p:nvSpPr>
        <p:spPr>
          <a:xfrm>
            <a:off x="1238250" y="525780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20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state.json · ledger.jsonl · candidates/&lt;id&gt;/ · workspaces/&lt;id&gt;/ · runs/&lt;run_id&gt;/</a:t>
            </a:r>
          </a:p>
        </p:txBody>
      </p:sp>
      <p:sp>
        <p:nvSpPr>
          <p:cNvPr id="29" name="">
            <a:extLst>
              <a:ext uri="{FF2B5EF4-FFF2-40B4-BE49-F238E27FC236}">
                <ns2:creationId id="{5472B512-B522-4867-801A-866A4B747BC7}"/>
              </a:ext>
            </a:extLst>
          </p:cNvPr>
          <p:cNvSpPr>
            <a:spLocks noGrp="1"/>
          </p:cNvSpPr>
          <p:nvPr/>
        </p:nvSpPr>
        <p:spPr>
          <a:xfrm>
            <a:off x="7505700" y="50101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1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핵심은 checkpoint보다 canonical artifact를 신뢰하게 만든 점이다.</a:t>
            </a:r>
          </a:p>
        </p:txBody>
      </p:sp>
    </p:spTree>
    <p:extLst>
      <p:ext uri="{BB962C8B-B14F-4D97-AF65-F5344CB8AC3E}">
        <ns3:creationId val="5606591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4C4EB5C-6F50-4A31-914A-13D01C7E7B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9D08A818-77EA-4F52-B8B4-6CB106AC2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>
              <a:ext uri="{FF2B5EF4-FFF2-40B4-BE49-F238E27FC236}">
                <ns2:creationId id="{2CEF3677-5204-42A3-BC47-3ED6F8ED420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프로젝트에서의 장점</a:t>
            </a:r>
          </a:p>
        </p:txBody>
      </p:sp>
      <p:sp>
        <p:nvSpPr>
          <p:cNvPr id="4" name="kicker-07-marker">
            <a:extLst>
              <a:ext uri="{FF2B5EF4-FFF2-40B4-BE49-F238E27FC236}">
                <ns2:creationId id="{5DFB1A12-ECA1-4184-AD9A-904F238DCE60}"/>
              </a:ext>
            </a:extLst>
          </p:cNvPr>
          <p:cNvSpPr>
            <a:spLocks noGrp="1"/>
          </p:cNvSpPr>
          <p:nvPr/>
        </p:nvSpPr>
        <p:spPr>
          <a:xfrm>
            <a:off x="381000" y="428625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58BB9B5A-0F32-4FA3-A287-2EB984AFE119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docs/langgraph-runner.md, Best/trial_0066 artifacts</a:t>
            </a:r>
          </a:p>
        </p:txBody>
      </p:sp>
      <p:sp>
        <p:nvSpPr>
          <p:cNvPr id="6" name="">
            <a:extLst>
              <a:ext uri="{FF2B5EF4-FFF2-40B4-BE49-F238E27FC236}">
                <ns2:creationId id="{09C6B716-6E00-43E6-82AC-397BDA2359B7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>
              <a:ext uri="{FF2B5EF4-FFF2-40B4-BE49-F238E27FC236}">
                <ns2:creationId id="{46AA9CDC-3BE2-4C3E-A290-C9FB0D18CE8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실제 이득은 'AI가 다 해줌'이 아니라</a:t>
            </a:r>
          </a:p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증거가 남는 탐색 구조였다.</a:t>
            </a:r>
          </a:p>
        </p:txBody>
      </p:sp>
      <p:sp>
        <p:nvSpPr>
          <p:cNvPr id="8" name="">
            <a:extLst>
              <a:ext uri="{FF2B5EF4-FFF2-40B4-BE49-F238E27FC236}">
                <ns2:creationId id="{FA3A5C12-0382-45B2-8446-5C1870C73BCA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3028950" cy="1104900"/>
          </a:xfrm>
          <a:prstGeom prst="rect">
            <a:avLst/>
          </a:prstGeom>
          <a:solidFill>
            <a:srgbClr val="081019"/>
          </a:solidFill>
          <a:ln w="9525">
            <a:solidFill>
              <a:srgbClr val="4DD7FF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FAD2463-8E3E-4C3A-99E1-A650AB837FEF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표준 후보 산출물</a:t>
            </a:r>
          </a:p>
        </p:txBody>
      </p:sp>
      <p:sp>
        <p:nvSpPr>
          <p:cNvPr id="10" name="">
            <a:extLst>
              <a:ext uri="{FF2B5EF4-FFF2-40B4-BE49-F238E27FC236}">
                <ns2:creationId id="{1F2E8F20-6EBA-4800-BB11-EDFF430BFD10}"/>
              </a:ext>
            </a:extLst>
          </p:cNvPr>
          <p:cNvSpPr>
            <a:spLocks noGrp="1"/>
          </p:cNvSpPr>
          <p:nvPr/>
        </p:nvSpPr>
        <p:spPr>
          <a:xfrm>
            <a:off x="857250" y="30099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proposal.json / patch.diff / notes.md</a:t>
            </a:r>
          </a:p>
        </p:txBody>
      </p:sp>
      <p:sp>
        <p:nvSpPr>
          <p:cNvPr id="11" name="">
            <a:extLst>
              <a:ext uri="{FF2B5EF4-FFF2-40B4-BE49-F238E27FC236}">
                <ns2:creationId id="{DD1814F9-34B2-4792-A1BF-510E4DBD4CF1}"/>
              </a:ext>
            </a:extLst>
          </p:cNvPr>
          <p:cNvSpPr>
            <a:spLocks noGrp="1"/>
          </p:cNvSpPr>
          <p:nvPr/>
        </p:nvSpPr>
        <p:spPr>
          <a:xfrm>
            <a:off x="4286250" y="2476500"/>
            <a:ext cx="3028950" cy="1104900"/>
          </a:xfrm>
          <a:prstGeom prst="rect">
            <a:avLst/>
          </a:prstGeom>
          <a:solidFill>
            <a:srgbClr val="081019"/>
          </a:solidFill>
          <a:ln w="9525">
            <a:solidFill>
              <a:srgbClr val="70F0A0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AC2A7F57-D531-47DE-9CC0-5E453B5E6D8C}"/>
              </a:ext>
            </a:extLst>
          </p:cNvPr>
          <p:cNvSpPr>
            <a:spLocks noGrp="1"/>
          </p:cNvSpPr>
          <p:nvPr/>
        </p:nvSpPr>
        <p:spPr>
          <a:xfrm>
            <a:off x="4476750" y="26670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검증 직렬화</a:t>
            </a:r>
          </a:p>
        </p:txBody>
      </p:sp>
      <p:sp>
        <p:nvSpPr>
          <p:cNvPr id="13" name="">
            <a:extLst>
              <a:ext uri="{FF2B5EF4-FFF2-40B4-BE49-F238E27FC236}">
                <ns2:creationId id="{1BEE3363-B45E-4865-BAF2-3692AB3AC60D}"/>
              </a:ext>
            </a:extLst>
          </p:cNvPr>
          <p:cNvSpPr>
            <a:spLocks noGrp="1"/>
          </p:cNvSpPr>
          <p:nvPr/>
        </p:nvSpPr>
        <p:spPr>
          <a:xfrm>
            <a:off x="4476750" y="30099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EDA backend 과부하와 stale output 방지</a:t>
            </a:r>
          </a:p>
        </p:txBody>
      </p:sp>
      <p:sp>
        <p:nvSpPr>
          <p:cNvPr id="14" name="">
            <a:extLst>
              <a:ext uri="{FF2B5EF4-FFF2-40B4-BE49-F238E27FC236}">
                <ns2:creationId id="{D5473266-0F52-4268-8ADB-4E4B5605248D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3028950" cy="1104900"/>
          </a:xfrm>
          <a:prstGeom prst="rect">
            <a:avLst/>
          </a:prstGeom>
          <a:solidFill>
            <a:srgbClr val="081019"/>
          </a:solidFill>
          <a:ln w="9525">
            <a:solidFill>
              <a:srgbClr val="FFCA5C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3465846C-0905-4F31-979D-C3CC8EF30528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Artifact 기반 판단</a:t>
            </a:r>
          </a:p>
        </p:txBody>
      </p:sp>
      <p:sp>
        <p:nvSpPr>
          <p:cNvPr id="16" name="">
            <a:extLst>
              <a:ext uri="{FF2B5EF4-FFF2-40B4-BE49-F238E27FC236}">
                <ns2:creationId id="{3149C329-F7C9-436D-BE2B-4EB068954773}"/>
              </a:ext>
            </a:extLst>
          </p:cNvPr>
          <p:cNvSpPr>
            <a:spLocks noGrp="1"/>
          </p:cNvSpPr>
          <p:nvPr/>
        </p:nvSpPr>
        <p:spPr>
          <a:xfrm>
            <a:off x="8096250" y="30099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stdout 설득이 아니라 metrics와 logs</a:t>
            </a:r>
          </a:p>
        </p:txBody>
      </p:sp>
      <p:sp>
        <p:nvSpPr>
          <p:cNvPr id="17" name="">
            <a:extLst>
              <a:ext uri="{FF2B5EF4-FFF2-40B4-BE49-F238E27FC236}">
                <ns2:creationId id="{C2B75E88-39E2-4865-BD8D-43573299AF22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3028950" cy="1104900"/>
          </a:xfrm>
          <a:prstGeom prst="rect">
            <a:avLst/>
          </a:prstGeom>
          <a:solidFill>
            <a:srgbClr val="081019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4BE13494-A058-44EC-A994-981F244C356A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실패 후보 보존</a:t>
            </a:r>
          </a:p>
        </p:txBody>
      </p:sp>
      <p:sp>
        <p:nvSpPr>
          <p:cNvPr id="19" name="">
            <a:extLst>
              <a:ext uri="{FF2B5EF4-FFF2-40B4-BE49-F238E27FC236}">
                <ns2:creationId id="{62116BAC-8B41-43F6-B2E3-5EA4DA7094C0}"/>
              </a:ext>
            </a:extLst>
          </p:cNvPr>
          <p:cNvSpPr>
            <a:spLocks noGrp="1"/>
          </p:cNvSpPr>
          <p:nvPr/>
        </p:nvSpPr>
        <p:spPr>
          <a:xfrm>
            <a:off x="857250" y="439102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재시도 원인과 반복 실패 패턴 추적</a:t>
            </a:r>
          </a:p>
        </p:txBody>
      </p:sp>
      <p:sp>
        <p:nvSpPr>
          <p:cNvPr id="20" name="">
            <a:extLst>
              <a:ext uri="{FF2B5EF4-FFF2-40B4-BE49-F238E27FC236}">
                <ns2:creationId id="{C8869B11-676D-4155-9EFA-733A54D1AB07}"/>
              </a:ext>
            </a:extLst>
          </p:cNvPr>
          <p:cNvSpPr>
            <a:spLocks noGrp="1"/>
          </p:cNvSpPr>
          <p:nvPr/>
        </p:nvSpPr>
        <p:spPr>
          <a:xfrm>
            <a:off x="4286250" y="3857625"/>
            <a:ext cx="3028950" cy="1104900"/>
          </a:xfrm>
          <a:prstGeom prst="rect">
            <a:avLst/>
          </a:prstGeom>
          <a:solidFill>
            <a:srgbClr val="081019"/>
          </a:solidFill>
          <a:ln w="9525">
            <a:solidFill>
              <a:srgbClr val="4DD7FF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8FC52232-B532-4605-99B5-AF0A7A3473D4}"/>
              </a:ext>
            </a:extLst>
          </p:cNvPr>
          <p:cNvSpPr>
            <a:spLocks noGrp="1"/>
          </p:cNvSpPr>
          <p:nvPr/>
        </p:nvSpPr>
        <p:spPr>
          <a:xfrm>
            <a:off x="4476750" y="404812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승격 통제</a:t>
            </a:r>
          </a:p>
        </p:txBody>
      </p:sp>
      <p:sp>
        <p:nvSpPr>
          <p:cNvPr id="22" name="">
            <a:extLst>
              <a:ext uri="{FF2B5EF4-FFF2-40B4-BE49-F238E27FC236}">
                <ns2:creationId id="{1EA2991A-FCEB-49B0-B355-0FE7D942AC63}"/>
              </a:ext>
            </a:extLst>
          </p:cNvPr>
          <p:cNvSpPr>
            <a:spLocks noGrp="1"/>
          </p:cNvSpPr>
          <p:nvPr/>
        </p:nvSpPr>
        <p:spPr>
          <a:xfrm>
            <a:off x="4476750" y="439102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accepted candidate만 DUT/devices.csv에 반영</a:t>
            </a:r>
          </a:p>
        </p:txBody>
      </p:sp>
      <p:sp>
        <p:nvSpPr>
          <p:cNvPr id="23" name="">
            <a:extLst>
              <a:ext uri="{FF2B5EF4-FFF2-40B4-BE49-F238E27FC236}">
                <ns2:creationId id="{2F95ECDE-3C18-4127-8AA4-A214185B31E1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3028950" cy="1104900"/>
          </a:xfrm>
          <a:prstGeom prst="rect">
            <a:avLst/>
          </a:prstGeom>
          <a:solidFill>
            <a:srgbClr val="081019"/>
          </a:solidFill>
          <a:ln w="9525">
            <a:solidFill>
              <a:srgbClr val="70F0A0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AA1F81E3-AC15-4AF7-89EF-7F0E44AF1551}"/>
              </a:ext>
            </a:extLst>
          </p:cNvPr>
          <p:cNvSpPr>
            <a:spLocks noGrp="1"/>
          </p:cNvSpPr>
          <p:nvPr/>
        </p:nvSpPr>
        <p:spPr>
          <a:xfrm>
            <a:off x="8096250" y="404812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사람 개입 지점</a:t>
            </a:r>
          </a:p>
        </p:txBody>
      </p:sp>
      <p:sp>
        <p:nvSpPr>
          <p:cNvPr id="25" name="">
            <a:extLst>
              <a:ext uri="{FF2B5EF4-FFF2-40B4-BE49-F238E27FC236}">
                <ns2:creationId id="{3B5A3183-0255-43F3-86A5-1262801CAEF5}"/>
              </a:ext>
            </a:extLst>
          </p:cNvPr>
          <p:cNvSpPr>
            <a:spLocks noGrp="1"/>
          </p:cNvSpPr>
          <p:nvPr/>
        </p:nvSpPr>
        <p:spPr>
          <a:xfrm>
            <a:off x="8096250" y="439102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anomaly와 verifier failure에서 interrupt</a:t>
            </a:r>
          </a:p>
        </p:txBody>
      </p:sp>
      <p:sp>
        <p:nvSpPr>
          <p:cNvPr id="26" name="">
            <a:extLst>
              <a:ext uri="{FF2B5EF4-FFF2-40B4-BE49-F238E27FC236}">
                <ns2:creationId id="{3084550A-C3E2-4804-9826-430EEBED0DFB}"/>
              </a:ext>
            </a:extLst>
          </p:cNvPr>
          <p:cNvSpPr>
            <a:spLocks noGrp="1"/>
          </p:cNvSpPr>
          <p:nvPr/>
        </p:nvSpPr>
        <p:spPr>
          <a:xfrm>
            <a:off x="895350" y="5486400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rPr>
              <a:t>review: passed</a:t>
            </a:r>
          </a:p>
        </p:txBody>
      </p:sp>
      <p:sp>
        <p:nvSpPr>
          <p:cNvPr id="27" name="">
            <a:extLst>
              <a:ext uri="{FF2B5EF4-FFF2-40B4-BE49-F238E27FC236}">
                <ns2:creationId id="{4D60CF86-D3E0-44EB-957D-84CCC2C1FAF6}"/>
              </a:ext>
            </a:extLst>
          </p:cNvPr>
          <p:cNvSpPr>
            <a:spLocks noGrp="1"/>
          </p:cNvSpPr>
          <p:nvPr/>
        </p:nvSpPr>
        <p:spPr>
          <a:xfrm>
            <a:off x="895350" y="58864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Best/trial_0066 deterministic checks</a:t>
            </a:r>
          </a:p>
        </p:txBody>
      </p:sp>
      <p:sp>
        <p:nvSpPr>
          <p:cNvPr id="28" name="">
            <a:extLst>
              <a:ext uri="{FF2B5EF4-FFF2-40B4-BE49-F238E27FC236}">
                <ns2:creationId id="{E1BFF033-04FA-4FE3-A3BD-CAD82D0B2F3E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rPr>
              <a:t>0.0689</a:t>
            </a:r>
          </a:p>
        </p:txBody>
      </p:sp>
      <p:sp>
        <p:nvSpPr>
          <p:cNvPr id="29" name="">
            <a:extLst>
              <a:ext uri="{FF2B5EF4-FFF2-40B4-BE49-F238E27FC236}">
                <ns2:creationId id="{E38A5512-0FE5-4F3C-B499-227278627B46}"/>
              </a:ext>
            </a:extLst>
          </p:cNvPr>
          <p:cNvSpPr>
            <a:spLocks noGrp="1"/>
          </p:cNvSpPr>
          <p:nvPr/>
        </p:nvSpPr>
        <p:spPr>
          <a:xfrm>
            <a:off x="4000500" y="5886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performance_nrmse_combined</a:t>
            </a:r>
          </a:p>
        </p:txBody>
      </p:sp>
      <p:sp>
        <p:nvSpPr>
          <p:cNvPr id="30" name="">
            <a:extLst>
              <a:ext uri="{FF2B5EF4-FFF2-40B4-BE49-F238E27FC236}">
                <ns2:creationId id="{1DEF70CC-39F7-4570-89B8-9C1C33515556}"/>
              </a:ext>
            </a:extLst>
          </p:cNvPr>
          <p:cNvSpPr>
            <a:spLocks noGrp="1"/>
          </p:cNvSpPr>
          <p:nvPr/>
        </p:nvSpPr>
        <p:spPr>
          <a:xfrm>
            <a:off x="6477000" y="5600700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작업 결과가 말이 아니라 파일과 숫자로 남았기 때문에, 다음 탐색이 같은 실패를 덜 반복할 수 있었다.</a:t>
            </a:r>
          </a:p>
        </p:txBody>
      </p:sp>
    </p:spTree>
    <p:extLst>
      <p:ext uri="{BB962C8B-B14F-4D97-AF65-F5344CB8AC3E}">
        <ns3:creationId val="48065501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2DF49E7-25EC-4703-AADE-FBBFC7DDA4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EA99E2ED-C39D-4128-84E4-3682CC50BB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>
              <a:ext uri="{FF2B5EF4-FFF2-40B4-BE49-F238E27FC236}">
                <ns2:creationId id="{7068EDFE-8419-42DA-8723-B0267C581B52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한계점</a:t>
            </a:r>
          </a:p>
        </p:txBody>
      </p:sp>
      <p:sp>
        <p:nvSpPr>
          <p:cNvPr id="4" name="kicker-08-marker">
            <a:extLst>
              <a:ext uri="{FF2B5EF4-FFF2-40B4-BE49-F238E27FC236}">
                <ns2:creationId id="{AC9130FA-F79E-4E7D-8CE5-E8342E741AB0}"/>
              </a:ext>
            </a:extLst>
          </p:cNvPr>
          <p:cNvSpPr>
            <a:spLocks noGrp="1"/>
          </p:cNvSpPr>
          <p:nvPr/>
        </p:nvSpPr>
        <p:spPr>
          <a:xfrm>
            <a:off x="381000" y="428625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49CA1FC9-3647-46DF-AD3B-4C2F9DCE33BD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amptest/run/ac_response.png, Best/trial_0066/ppa_metrics.json</a:t>
            </a:r>
          </a:p>
        </p:txBody>
      </p:sp>
      <p:sp>
        <p:nvSpPr>
          <p:cNvPr id="6" name="">
            <a:extLst>
              <a:ext uri="{FF2B5EF4-FFF2-40B4-BE49-F238E27FC236}">
                <ns2:creationId id="{D9566D16-EBAD-4AA7-A2B3-E9D2380F1D4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>
              <a:ext uri="{FF2B5EF4-FFF2-40B4-BE49-F238E27FC236}">
                <ns2:creationId id="{3080E930-C883-4D59-8B2B-8B83464E3B5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AI를 재귀적으로 돌려도</a:t>
            </a:r>
          </a:p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회로 품질은 자동으로 보장되지 않았다.</a:t>
            </a:r>
          </a:p>
        </p:txBody>
      </p:sp>
      <p:sp>
        <p:nvSpPr>
          <p:cNvPr id="8" name="">
            <a:extLst>
              <a:ext uri="{FF2B5EF4-FFF2-40B4-BE49-F238E27FC236}">
                <ns2:creationId id="{1F60E4C0-550E-4214-A71E-FE93602F6293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8858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LangGraph는 반복과 검증을 견고하게 만들지만, 어떤 topology가 물리적으로 타당한지는 여전히 도메인 지식과 중간 개입이 필요했다.</a:t>
            </a:r>
          </a:p>
        </p:txBody>
      </p:sp>
      <p:sp>
        <p:nvSpPr>
          <p:cNvPr id="9" name="">
            <a:extLst>
              <a:ext uri="{FF2B5EF4-FFF2-40B4-BE49-F238E27FC236}">
                <ns2:creationId id="{7838664B-2CD9-456B-827C-779D1F35602F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57225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263244"/>
            </a:solidFill>
            <a:prstDash val="solid"/>
          </a:ln>
        </p:spPr>
      </p:sp>
      <p:pic>
        <p:nvPicPr>
          <p:cNvPr id="10" name=""/>
          <p:cNvPicPr>
            <a:picLocks noChangeAspect="1"/>
          </p:cNvPicPr>
          <p:nvPr/>
        </p:nvPicPr>
        <p:blipFill>
          <a:blip r:embed="R642ccb8a0b2b4482"/>
          <a:stretch/>
        </p:blipFill>
        <p:spPr>
          <a:xfrm>
            <a:off x="1341796" y="2990850"/>
            <a:ext cx="5069758" cy="3143250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84C65015-C9F0-4210-97DC-FAA91AC609A5}"/>
              </a:ext>
            </a:extLst>
          </p:cNvPr>
          <p:cNvSpPr>
            <a:spLocks noGrp="1"/>
          </p:cNvSpPr>
          <p:nvPr/>
        </p:nvSpPr>
        <p:spPr>
          <a:xfrm>
            <a:off x="7562850" y="2857500"/>
            <a:ext cx="3238500" cy="3638550"/>
          </a:xfrm>
          <a:prstGeom prst="rect">
            <a:avLst/>
          </a:prstGeom>
          <a:solidFill>
            <a:srgbClr val="070B12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E53787BB-F0C1-42A3-8811-F01B3589FEC5}"/>
              </a:ext>
            </a:extLst>
          </p:cNvPr>
          <p:cNvSpPr>
            <a:spLocks noGrp="1"/>
          </p:cNvSpPr>
          <p:nvPr/>
        </p:nvSpPr>
        <p:spPr>
          <a:xfrm>
            <a:off x="7886700" y="31623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D7FF"/>
                </a:solidFill>
                <a:latin typeface="Aptos Display"/>
                <a:ea typeface="Aptos Display"/>
                <a:cs typeface="Aptos Display"/>
              </a:rPr>
              <a:t>38.54 dB</a:t>
            </a:r>
          </a:p>
        </p:txBody>
      </p:sp>
      <p:sp>
        <p:nvSpPr>
          <p:cNvPr id="13" name="">
            <a:extLst>
              <a:ext uri="{FF2B5EF4-FFF2-40B4-BE49-F238E27FC236}">
                <ns2:creationId id="{6F5A8DF3-A0AC-42C2-9289-74167FBBBB66}"/>
              </a:ext>
            </a:extLst>
          </p:cNvPr>
          <p:cNvSpPr>
            <a:spLocks noGrp="1"/>
          </p:cNvSpPr>
          <p:nvPr/>
        </p:nvSpPr>
        <p:spPr>
          <a:xfrm>
            <a:off x="7886700" y="3562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midband gain</a:t>
            </a:r>
          </a:p>
        </p:txBody>
      </p:sp>
      <p:sp>
        <p:nvSpPr>
          <p:cNvPr id="14" name="">
            <a:extLst>
              <a:ext uri="{FF2B5EF4-FFF2-40B4-BE49-F238E27FC236}">
                <ns2:creationId id="{39B92E6A-606D-4EF8-80A3-957EC335BB23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0F0A0"/>
                </a:solidFill>
                <a:latin typeface="Aptos Display"/>
                <a:ea typeface="Aptos Display"/>
                <a:cs typeface="Aptos Display"/>
              </a:rPr>
              <a:t>55.7 Hz</a:t>
            </a:r>
          </a:p>
        </p:txBody>
      </p:sp>
      <p:sp>
        <p:nvSpPr>
          <p:cNvPr id="15" name="">
            <a:extLst>
              <a:ext uri="{FF2B5EF4-FFF2-40B4-BE49-F238E27FC236}">
                <ns2:creationId id="{765DE494-F73B-458B-A7D4-2F638CCC8ABA}"/>
              </a:ext>
            </a:extLst>
          </p:cNvPr>
          <p:cNvSpPr>
            <a:spLocks noGrp="1"/>
          </p:cNvSpPr>
          <p:nvPr/>
        </p:nvSpPr>
        <p:spPr>
          <a:xfrm>
            <a:off x="7886700" y="44386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lower -3dB point</a:t>
            </a:r>
          </a:p>
        </p:txBody>
      </p:sp>
      <p:sp>
        <p:nvSpPr>
          <p:cNvPr id="16" name="">
            <a:extLst>
              <a:ext uri="{FF2B5EF4-FFF2-40B4-BE49-F238E27FC236}">
                <ns2:creationId id="{A7936AEA-A161-440B-9437-BFA9D29C18A4}"/>
              </a:ext>
            </a:extLst>
          </p:cNvPr>
          <p:cNvSpPr>
            <a:spLocks noGrp="1"/>
          </p:cNvSpPr>
          <p:nvPr/>
        </p:nvSpPr>
        <p:spPr>
          <a:xfrm>
            <a:off x="7886700" y="49149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CA5C"/>
                </a:solidFill>
                <a:latin typeface="Aptos Display"/>
                <a:ea typeface="Aptos Display"/>
                <a:cs typeface="Aptos Display"/>
              </a:rPr>
              <a:t>20.6 kHz</a:t>
            </a:r>
          </a:p>
        </p:txBody>
      </p:sp>
      <p:sp>
        <p:nvSpPr>
          <p:cNvPr id="17" name="">
            <a:extLst>
              <a:ext uri="{FF2B5EF4-FFF2-40B4-BE49-F238E27FC236}">
                <ns2:creationId id="{AE2C2462-150A-4903-8E4A-2134B8AE5C5A}"/>
              </a:ext>
            </a:extLst>
          </p:cNvPr>
          <p:cNvSpPr>
            <a:spLocks noGrp="1"/>
          </p:cNvSpPr>
          <p:nvPr/>
        </p:nvSpPr>
        <p:spPr>
          <a:xfrm>
            <a:off x="7886700" y="53149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upper -3dB point</a:t>
            </a:r>
          </a:p>
        </p:txBody>
      </p:sp>
      <p:sp>
        <p:nvSpPr>
          <p:cNvPr id="18" name="">
            <a:extLst>
              <a:ext uri="{FF2B5EF4-FFF2-40B4-BE49-F238E27FC236}">
                <ns2:creationId id="{359F1AB1-B5DC-43EE-91FD-7E80515EB6FF}"/>
              </a:ext>
            </a:extLst>
          </p:cNvPr>
          <p:cNvSpPr>
            <a:spLocks noGrp="1"/>
          </p:cNvSpPr>
          <p:nvPr/>
        </p:nvSpPr>
        <p:spPr>
          <a:xfrm>
            <a:off x="7886700" y="5676900"/>
            <a:ext cx="2514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그래프 구조는 후보를 계속 만들 수 있다.</a:t>
            </a:r>
          </a:p>
          <a:p>
            <a:pPr algn="l">
              <a:def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하지만 유효한 회로는 bias, pole/zero, swing, area trade-off를 사람이 해석해야 나온다.</a:t>
            </a:r>
          </a:p>
        </p:txBody>
      </p:sp>
    </p:spTree>
    <p:extLst>
      <p:ext uri="{BB962C8B-B14F-4D97-AF65-F5344CB8AC3E}">
        <ns4:creationId val="1535154123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BC4EAEF3-0940-431C-9CF4-DC62378322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A0ECB95B-8BF7-4DFE-AB2A-C1DD25F552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ns2:creationId id="{FBD51091-8C64-4A0A-86AD-562BDED0CF3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깨달은점</a:t>
            </a:r>
          </a:p>
        </p:txBody>
      </p:sp>
      <p:sp>
        <p:nvSpPr>
          <p:cNvPr id="4" name="kicker-09-marker">
            <a:extLst>
              <a:ext uri="{FF2B5EF4-FFF2-40B4-BE49-F238E27FC236}">
                <ns2:creationId id="{D0B50A94-9103-4386-9563-D252355F58F9}"/>
              </a:ext>
            </a:extLst>
          </p:cNvPr>
          <p:cNvSpPr>
            <a:spLocks noGrp="1"/>
          </p:cNvSpPr>
          <p:nvPr/>
        </p:nvSpPr>
        <p:spPr>
          <a:xfrm>
            <a:off x="381000" y="428625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DCE21FA5-3F58-4D33-83E9-944C945EF878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Synthesis from LangGraph runner implementation</a:t>
            </a:r>
          </a:p>
        </p:txBody>
      </p:sp>
      <p:sp>
        <p:nvSpPr>
          <p:cNvPr id="6" name="">
            <a:extLst>
              <a:ext uri="{FF2B5EF4-FFF2-40B4-BE49-F238E27FC236}">
                <ns2:creationId id="{EAB2AA1F-1048-49AA-9494-4080E4AF382C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>
              <a:ext uri="{FF2B5EF4-FFF2-40B4-BE49-F238E27FC236}">
                <ns2:creationId id="{FDED74FC-AF5B-4C05-8512-10D559A5A3C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334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Agentic AI의 핵심은</a:t>
            </a:r>
          </a:p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똑똑한 모델보다 검증 가능한 실행 구조다.</a:t>
            </a:r>
          </a:p>
        </p:txBody>
      </p:sp>
      <p:sp>
        <p:nvSpPr>
          <p:cNvPr id="8" name="">
            <a:extLst>
              <a:ext uri="{FF2B5EF4-FFF2-40B4-BE49-F238E27FC236}">
                <ns2:creationId id="{0D2D6F40-0FCD-4A43-873A-684AC88F25DC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4762500" cy="2571750"/>
          </a:xfrm>
          <a:prstGeom prst="rect">
            <a:avLst/>
          </a:prstGeom>
          <a:solidFill>
            <a:srgbClr val="081019"/>
          </a:solidFill>
          <a:ln w="9525">
            <a:solidFill>
              <a:srgbClr val="4DD7FF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11B53522-97FF-441F-879D-986A75AAA349}"/>
              </a:ext>
            </a:extLst>
          </p:cNvPr>
          <p:cNvSpPr>
            <a:spLocks noGrp="1"/>
          </p:cNvSpPr>
          <p:nvPr/>
        </p:nvSpPr>
        <p:spPr>
          <a:xfrm>
            <a:off x="6610350" y="2724150"/>
            <a:ext cx="4762500" cy="2571750"/>
          </a:xfrm>
          <a:prstGeom prst="rect">
            <a:avLst/>
          </a:prstGeom>
          <a:solidFill>
            <a:srgbClr val="07110F"/>
          </a:solidFill>
          <a:ln w="9525">
            <a:solidFill>
              <a:srgbClr val="70F0A0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D6BBD779-6F5F-4933-A66E-1BA97E10EBC3}"/>
              </a:ext>
            </a:extLst>
          </p:cNvPr>
          <p:cNvSpPr>
            <a:spLocks noGrp="1"/>
          </p:cNvSpPr>
          <p:nvPr/>
        </p:nvSpPr>
        <p:spPr>
          <a:xfrm>
            <a:off x="1181100" y="30670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LLM이 잘하는 일</a:t>
            </a:r>
          </a:p>
        </p:txBody>
      </p:sp>
      <p:sp>
        <p:nvSpPr>
          <p:cNvPr id="11" name="">
            <a:extLst>
              <a:ext uri="{FF2B5EF4-FFF2-40B4-BE49-F238E27FC236}">
                <ns2:creationId id="{30454228-3AE8-45A1-B638-E0FBFFA91497}"/>
              </a:ext>
            </a:extLst>
          </p:cNvPr>
          <p:cNvSpPr>
            <a:spLocks noGrp="1"/>
          </p:cNvSpPr>
          <p:nvPr/>
        </p:nvSpPr>
        <p:spPr>
          <a:xfrm>
            <a:off x="6972300" y="30670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0F0A0"/>
                </a:solidFill>
                <a:latin typeface="Malgun Gothic"/>
                <a:ea typeface="Malgun Gothic"/>
                <a:cs typeface="Malgun Gothic"/>
              </a:rPr>
              <a:t>시스템이 책임져야 할 일</a:t>
            </a:r>
          </a:p>
        </p:txBody>
      </p:sp>
      <p:sp>
        <p:nvSpPr>
          <p:cNvPr id="12" name="">
            <a:extLst>
              <a:ext uri="{FF2B5EF4-FFF2-40B4-BE49-F238E27FC236}">
                <ns2:creationId id="{E1FE51A5-82CB-4060-B2FF-DF46A4901B03}"/>
              </a:ext>
            </a:extLst>
          </p:cNvPr>
          <p:cNvSpPr>
            <a:spLocks noGrp="1"/>
          </p:cNvSpPr>
          <p:nvPr/>
        </p:nvSpPr>
        <p:spPr>
          <a:xfrm>
            <a:off x="1200150" y="3771900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E85CEB43-51AD-46BB-B2E0-109BA8DE58D8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새 topology 가설 만들기</a:t>
            </a:r>
          </a:p>
        </p:txBody>
      </p:sp>
      <p:sp>
        <p:nvSpPr>
          <p:cNvPr id="14" name="">
            <a:extLst>
              <a:ext uri="{FF2B5EF4-FFF2-40B4-BE49-F238E27FC236}">
                <ns2:creationId id="{E98A48B4-A788-4AFB-9D83-1C7F43035D07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564F0FEF-6920-42A2-93F4-7D1ED65F2B4A}"/>
              </a:ext>
            </a:extLst>
          </p:cNvPr>
          <p:cNvSpPr>
            <a:spLocks noGrp="1"/>
          </p:cNvSpPr>
          <p:nvPr/>
        </p:nvSpPr>
        <p:spPr>
          <a:xfrm>
            <a:off x="1409700" y="417195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실패 원인을 자연어로 정리</a:t>
            </a:r>
          </a:p>
        </p:txBody>
      </p:sp>
      <p:sp>
        <p:nvSpPr>
          <p:cNvPr id="16" name="">
            <a:extLst>
              <a:ext uri="{FF2B5EF4-FFF2-40B4-BE49-F238E27FC236}">
                <ns2:creationId id="{3502BCE7-318D-4040-92CE-357E79A65E03}"/>
              </a:ext>
            </a:extLst>
          </p:cNvPr>
          <p:cNvSpPr>
            <a:spLocks noGrp="1"/>
          </p:cNvSpPr>
          <p:nvPr/>
        </p:nvSpPr>
        <p:spPr>
          <a:xfrm>
            <a:off x="1200150" y="4724400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269F0AA8-949D-48A5-B67E-5DEC53135A74}"/>
              </a:ext>
            </a:extLst>
          </p:cNvPr>
          <p:cNvSpPr>
            <a:spLocks noGrp="1"/>
          </p:cNvSpPr>
          <p:nvPr/>
        </p:nvSpPr>
        <p:spPr>
          <a:xfrm>
            <a:off x="1409700" y="464820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다음 탐색 방향 제안</a:t>
            </a:r>
          </a:p>
        </p:txBody>
      </p:sp>
      <p:sp>
        <p:nvSpPr>
          <p:cNvPr id="18" name="">
            <a:extLst>
              <a:ext uri="{FF2B5EF4-FFF2-40B4-BE49-F238E27FC236}">
                <ns2:creationId id="{47948444-C817-4370-B503-3E526150E76B}"/>
              </a:ext>
            </a:extLst>
          </p:cNvPr>
          <p:cNvSpPr>
            <a:spLocks noGrp="1"/>
          </p:cNvSpPr>
          <p:nvPr/>
        </p:nvSpPr>
        <p:spPr>
          <a:xfrm>
            <a:off x="6991350" y="3771900"/>
            <a:ext cx="76200" cy="76200"/>
          </a:xfrm>
          <a:prstGeom prst="rect">
            <a:avLst/>
          </a:prstGeom>
          <a:solidFill>
            <a:srgbClr val="70F0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39FC63A5-FF0C-4B41-B7E4-B41D1B9BD7DF}"/>
              </a:ext>
            </a:extLst>
          </p:cNvPr>
          <p:cNvSpPr>
            <a:spLocks noGrp="1"/>
          </p:cNvSpPr>
          <p:nvPr/>
        </p:nvSpPr>
        <p:spPr>
          <a:xfrm>
            <a:off x="7200900" y="369570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상태와 로그 보존</a:t>
            </a:r>
          </a:p>
        </p:txBody>
      </p:sp>
      <p:sp>
        <p:nvSpPr>
          <p:cNvPr id="20" name="">
            <a:extLst>
              <a:ext uri="{FF2B5EF4-FFF2-40B4-BE49-F238E27FC236}">
                <ns2:creationId id="{542BD330-AEB9-4148-9114-F93907CEE90D}"/>
              </a:ext>
            </a:extLst>
          </p:cNvPr>
          <p:cNvSpPr>
            <a:spLocks noGrp="1"/>
          </p:cNvSpPr>
          <p:nvPr/>
        </p:nvSpPr>
        <p:spPr>
          <a:xfrm>
            <a:off x="6991350" y="4248150"/>
            <a:ext cx="76200" cy="76200"/>
          </a:xfrm>
          <a:prstGeom prst="rect">
            <a:avLst/>
          </a:prstGeom>
          <a:solidFill>
            <a:srgbClr val="70F0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28183E34-3013-453D-9F37-3C982FAA9E48}"/>
              </a:ext>
            </a:extLst>
          </p:cNvPr>
          <p:cNvSpPr>
            <a:spLocks noGrp="1"/>
          </p:cNvSpPr>
          <p:nvPr/>
        </p:nvSpPr>
        <p:spPr>
          <a:xfrm>
            <a:off x="7200900" y="417195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도구 실행과 검증 분리</a:t>
            </a:r>
          </a:p>
        </p:txBody>
      </p:sp>
      <p:sp>
        <p:nvSpPr>
          <p:cNvPr id="22" name="">
            <a:extLst>
              <a:ext uri="{FF2B5EF4-FFF2-40B4-BE49-F238E27FC236}">
                <ns2:creationId id="{5E078C27-9414-49FE-831F-FE86DFAA484E}"/>
              </a:ext>
            </a:extLst>
          </p:cNvPr>
          <p:cNvSpPr>
            <a:spLocks noGrp="1"/>
          </p:cNvSpPr>
          <p:nvPr/>
        </p:nvSpPr>
        <p:spPr>
          <a:xfrm>
            <a:off x="6991350" y="4724400"/>
            <a:ext cx="76200" cy="76200"/>
          </a:xfrm>
          <a:prstGeom prst="rect">
            <a:avLst/>
          </a:prstGeom>
          <a:solidFill>
            <a:srgbClr val="70F0A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D7622F2C-57AC-4257-A13F-CC391F73F7BE}"/>
              </a:ext>
            </a:extLst>
          </p:cNvPr>
          <p:cNvSpPr>
            <a:spLocks noGrp="1"/>
          </p:cNvSpPr>
          <p:nvPr/>
        </p:nvSpPr>
        <p:spPr>
          <a:xfrm>
            <a:off x="7200900" y="464820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accept / reject / interrupt 결정</a:t>
            </a:r>
          </a:p>
        </p:txBody>
      </p:sp>
      <p:sp>
        <p:nvSpPr>
          <p:cNvPr id="24" name="">
            <a:extLst>
              <a:ext uri="{FF2B5EF4-FFF2-40B4-BE49-F238E27FC236}">
                <ns2:creationId id="{131F961A-BD73-41A8-A911-1167FA1B8428}"/>
              </a:ext>
            </a:extLst>
          </p:cNvPr>
          <p:cNvSpPr>
            <a:spLocks noGrp="1"/>
          </p:cNvSpPr>
          <p:nvPr/>
        </p:nvSpPr>
        <p:spPr>
          <a:xfrm>
            <a:off x="1200150" y="5638800"/>
            <a:ext cx="838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5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결론: Agent는 답변자가 아니라, 실행 구조 안에서 제한된 책임을 맡는 작업자에 가깝다.</a:t>
            </a:r>
          </a:p>
        </p:txBody>
      </p:sp>
    </p:spTree>
    <p:extLst>
      <p:ext uri="{BB962C8B-B14F-4D97-AF65-F5344CB8AC3E}">
        <ns3:creationId val="1642832204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3AA867E-0A27-4450-9ED8-ACB1231EB4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5346E3C3-E17A-4880-9789-896A931FB0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6013C6EA-6E4A-46C3-83F2-1D214C4DB45B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5067D134-20E2-402B-9249-BC791B188831}"/>
              </a:ext>
            </a:extLst>
          </p:cNvPr>
          <p:cNvSpPr>
            <a:spLocks noGrp="1"/>
          </p:cNvSpPr>
          <p:nvPr/>
        </p:nvSpPr>
        <p:spPr>
          <a:xfrm>
            <a:off x="0" y="2514600"/>
            <a:ext cx="1219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4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End</a:t>
            </a:r>
          </a:p>
        </p:txBody>
      </p:sp>
      <p:sp>
        <p:nvSpPr>
          <p:cNvPr id="5" name="">
            <a:extLst>
              <a:ext uri="{FF2B5EF4-FFF2-40B4-BE49-F238E27FC236}">
                <ns2:creationId id="{9DDEA577-DFE5-4D17-8B43-F8B3EC422D4C}"/>
              </a:ext>
            </a:extLst>
          </p:cNvPr>
          <p:cNvSpPr>
            <a:spLocks noGrp="1"/>
          </p:cNvSpPr>
          <p:nvPr/>
        </p:nvSpPr>
        <p:spPr>
          <a:xfrm>
            <a:off x="4514850" y="3695700"/>
            <a:ext cx="3162300" cy="190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0CBC5ABA-0181-4073-815B-61493A02CE28}"/>
              </a:ext>
            </a:extLst>
          </p:cNvPr>
          <p:cNvSpPr>
            <a:spLocks noGrp="1"/>
          </p:cNvSpPr>
          <p:nvPr/>
        </p:nvSpPr>
        <p:spPr>
          <a:xfrm>
            <a:off x="0" y="4095750"/>
            <a:ext cx="1219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Agent는 답변자가 아니라 실행 구조 안의 작업자</a:t>
            </a:r>
          </a:p>
        </p:txBody>
      </p:sp>
    </p:spTree>
    <p:extLst>
      <p:ext uri="{BB962C8B-B14F-4D97-AF65-F5344CB8AC3E}">
        <ns3:creationId val="519066184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0614D40-6D6E-42B9-A504-D9DC9FBB2D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A4285843-5CE4-4BFA-B7D1-0753A16C0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>
              <a:ext uri="{FF2B5EF4-FFF2-40B4-BE49-F238E27FC236}">
                <ns2:creationId id="{80EFA503-0324-42EC-A48E-3018322F289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D7FF"/>
                </a:solidFill>
                <a:latin typeface="Malgun Gothic"/>
                <a:ea typeface="Malgun Gothic"/>
                <a:cs typeface="Malgun Gothic"/>
              </a:rPr>
              <a:t>전자회로 설계 문제</a:t>
            </a:r>
          </a:p>
        </p:txBody>
      </p:sp>
      <p:sp>
        <p:nvSpPr>
          <p:cNvPr id="4" name="kicker-05-marker">
            <a:extLst>
              <a:ext uri="{FF2B5EF4-FFF2-40B4-BE49-F238E27FC236}">
                <ns2:creationId id="{F4DE482A-97C6-4AD3-BDAE-09A65BFAE658}"/>
              </a:ext>
            </a:extLst>
          </p:cNvPr>
          <p:cNvSpPr>
            <a:spLocks noGrp="1"/>
          </p:cNvSpPr>
          <p:nvPr/>
        </p:nvSpPr>
        <p:spPr>
          <a:xfrm>
            <a:off x="381000" y="428625"/>
            <a:ext cx="76200" cy="76200"/>
          </a:xfrm>
          <a:prstGeom prst="rect">
            <a:avLst/>
          </a:prstGeom>
          <a:solidFill>
            <a:srgbClr val="4DD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AAF7AFC0-B69B-4F66-A2DD-A5F6224EBC30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66071"/>
                </a:solidFill>
                <a:latin typeface="Malgun Gothic"/>
                <a:ea typeface="Malgun Gothic"/>
                <a:cs typeface="Malgun Gothic"/>
              </a:rPr>
              <a:t>Sources: neural_signal_amplifier_project.md, runner_config.json</a:t>
            </a:r>
          </a:p>
        </p:txBody>
      </p:sp>
      <p:sp>
        <p:nvSpPr>
          <p:cNvPr id="6" name="">
            <a:extLst>
              <a:ext uri="{FF2B5EF4-FFF2-40B4-BE49-F238E27FC236}">
                <ns2:creationId id="{57708807-2AF3-4F89-AE66-352585A188D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>
              <a:ext uri="{FF2B5EF4-FFF2-40B4-BE49-F238E27FC236}">
                <ns2:creationId id="{2F62C910-4F76-4F19-A915-E62EDEDB130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t"/>
          <a:lstStyle/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목표는 신경 신호용 증폭기를 설계해</a:t>
            </a:r>
          </a:p>
          <a:p>
            <a:pPr algn="l">
              <a:def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스펙과 PPA를 동시에 만족시키는 것이었다.</a:t>
            </a:r>
          </a:p>
        </p:txBody>
      </p:sp>
      <p:sp>
        <p:nvSpPr>
          <p:cNvPr id="8" name="">
            <a:extLst>
              <a:ext uri="{FF2B5EF4-FFF2-40B4-BE49-F238E27FC236}">
                <ns2:creationId id="{65B0D840-FF0C-4D7D-A41A-08A49AC4F167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19050" anchor="t"/>
          <a:lstStyle/>
          <a:p>
            <a:pPr algn="l">
              <a:def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96A0AE"/>
                </a:solidFill>
                <a:latin typeface="Malgun Gothic"/>
                <a:ea typeface="Malgun Gothic"/>
                <a:cs typeface="Malgun Gothic"/>
              </a:rPr>
              <a:t>주어진 소자만으로 1 mV 입력을 약 100 V/V로 키우고, 10 Hz-20 kHz 대역과 10 pF load에서 AC·transient 응답을 맞춰야 했다.</a:t>
            </a:r>
          </a:p>
        </p:txBody>
      </p:sp>
      <p:sp>
        <p:nvSpPr>
          <p:cNvPr id="9" name="">
            <a:extLst>
              <a:ext uri="{FF2B5EF4-FFF2-40B4-BE49-F238E27FC236}">
                <ns2:creationId id="{B418DBD7-9BDA-4790-9E25-B49B52E2746A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4DD7FF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8717EE9-EA7C-48AD-A521-1705DD4B0919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작은 신호 증폭</a:t>
            </a:r>
          </a:p>
        </p:txBody>
      </p:sp>
      <p:sp>
        <p:nvSpPr>
          <p:cNvPr id="11" name="">
            <a:extLst>
              <a:ext uri="{FF2B5EF4-FFF2-40B4-BE49-F238E27FC236}">
                <ns2:creationId id="{B4FE5A5D-E13E-424E-9BB6-EEB2845772C4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VIN=2.5V+1mV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gain 40 dB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VOUT~100 mV</a:t>
            </a:r>
          </a:p>
        </p:txBody>
      </p:sp>
      <p:sp>
        <p:nvSpPr>
          <p:cNvPr id="12" name="">
            <a:extLst>
              <a:ext uri="{FF2B5EF4-FFF2-40B4-BE49-F238E27FC236}">
                <ns2:creationId id="{C642353A-E6F2-4558-83ED-4C03BBA0C98A}"/>
              </a:ext>
            </a:extLst>
          </p:cNvPr>
          <p:cNvSpPr>
            <a:spLocks noGrp="1"/>
          </p:cNvSpPr>
          <p:nvPr/>
        </p:nvSpPr>
        <p:spPr>
          <a:xfrm>
            <a:off x="3048000" y="3962400"/>
            <a:ext cx="34290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551AE145-9008-4B8F-A659-4B00055BEDAE}"/>
              </a:ext>
            </a:extLst>
          </p:cNvPr>
          <p:cNvSpPr>
            <a:spLocks noGrp="1"/>
          </p:cNvSpPr>
          <p:nvPr/>
        </p:nvSpPr>
        <p:spPr>
          <a:xfrm>
            <a:off x="3105150" y="3790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>
              <a:ext uri="{FF2B5EF4-FFF2-40B4-BE49-F238E27FC236}">
                <ns2:creationId id="{E553EFDC-DC55-44DF-9A7A-7B26CAB81456}"/>
              </a:ext>
            </a:extLst>
          </p:cNvPr>
          <p:cNvSpPr>
            <a:spLocks noGrp="1"/>
          </p:cNvSpPr>
          <p:nvPr/>
        </p:nvSpPr>
        <p:spPr>
          <a:xfrm>
            <a:off x="34861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FFCA5C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09E43B31-E050-4407-88DF-03ED28B130A4}"/>
              </a:ext>
            </a:extLst>
          </p:cNvPr>
          <p:cNvSpPr>
            <a:spLocks noGrp="1"/>
          </p:cNvSpPr>
          <p:nvPr/>
        </p:nvSpPr>
        <p:spPr>
          <a:xfrm>
            <a:off x="36766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대역/부하 제약</a:t>
            </a:r>
          </a:p>
        </p:txBody>
      </p:sp>
      <p:sp>
        <p:nvSpPr>
          <p:cNvPr id="16" name="">
            <a:extLst>
              <a:ext uri="{FF2B5EF4-FFF2-40B4-BE49-F238E27FC236}">
                <ns2:creationId id="{B097AFE0-1ECC-48C5-8244-274F841B8D5F}"/>
              </a:ext>
            </a:extLst>
          </p:cNvPr>
          <p:cNvSpPr>
            <a:spLocks noGrp="1"/>
          </p:cNvSpPr>
          <p:nvPr/>
        </p:nvSpPr>
        <p:spPr>
          <a:xfrm>
            <a:off x="36766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10 Hz-20 kHz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-80 dB/dec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CL=10 pF</a:t>
            </a:r>
          </a:p>
        </p:txBody>
      </p:sp>
      <p:sp>
        <p:nvSpPr>
          <p:cNvPr id="17" name="">
            <a:extLst>
              <a:ext uri="{FF2B5EF4-FFF2-40B4-BE49-F238E27FC236}">
                <ns2:creationId id="{395229AA-7F1D-43E3-AD08-D8F9446BFB93}"/>
              </a:ext>
            </a:extLst>
          </p:cNvPr>
          <p:cNvSpPr>
            <a:spLocks noGrp="1"/>
          </p:cNvSpPr>
          <p:nvPr/>
        </p:nvSpPr>
        <p:spPr>
          <a:xfrm>
            <a:off x="5791200" y="3962400"/>
            <a:ext cx="34290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D231856F-ADA3-4007-AEE9-DB96A740F36E}"/>
              </a:ext>
            </a:extLst>
          </p:cNvPr>
          <p:cNvSpPr>
            <a:spLocks noGrp="1"/>
          </p:cNvSpPr>
          <p:nvPr/>
        </p:nvSpPr>
        <p:spPr>
          <a:xfrm>
            <a:off x="5848350" y="3790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>
              <a:ext uri="{FF2B5EF4-FFF2-40B4-BE49-F238E27FC236}">
                <ns2:creationId id="{FB070D04-0484-464E-8473-47FAF3DA612F}"/>
              </a:ext>
            </a:extLst>
          </p:cNvPr>
          <p:cNvSpPr>
            <a:spLocks noGrp="1"/>
          </p:cNvSpPr>
          <p:nvPr/>
        </p:nvSpPr>
        <p:spPr>
          <a:xfrm>
            <a:off x="62293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70F0A0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1F5202CD-AE19-4AF5-BAC0-8DD27395F96E}"/>
              </a:ext>
            </a:extLst>
          </p:cNvPr>
          <p:cNvSpPr>
            <a:spLocks noGrp="1"/>
          </p:cNvSpPr>
          <p:nvPr/>
        </p:nvSpPr>
        <p:spPr>
          <a:xfrm>
            <a:off x="64198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회로 선택 변수</a:t>
            </a:r>
          </a:p>
        </p:txBody>
      </p:sp>
      <p:sp>
        <p:nvSpPr>
          <p:cNvPr id="21" name="">
            <a:extLst>
              <a:ext uri="{FF2B5EF4-FFF2-40B4-BE49-F238E27FC236}">
                <ns2:creationId id="{5A7AD0F8-82C3-429E-962A-6A65DC792098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topology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R/C sizing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OPAMP f_t/bias</a:t>
            </a:r>
          </a:p>
        </p:txBody>
      </p:sp>
      <p:sp>
        <p:nvSpPr>
          <p:cNvPr id="22" name="">
            <a:extLst>
              <a:ext uri="{FF2B5EF4-FFF2-40B4-BE49-F238E27FC236}">
                <ns2:creationId id="{8466F8C8-9A22-47B3-B12B-F4B9316EE61E}"/>
              </a:ext>
            </a:extLst>
          </p:cNvPr>
          <p:cNvSpPr>
            <a:spLocks noGrp="1"/>
          </p:cNvSpPr>
          <p:nvPr/>
        </p:nvSpPr>
        <p:spPr>
          <a:xfrm>
            <a:off x="8534400" y="3962400"/>
            <a:ext cx="342900" cy="19050"/>
          </a:xfrm>
          <a:prstGeom prst="rect">
            <a:avLst/>
          </a:prstGeom>
          <a:solidFill>
            <a:srgbClr val="5660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5130D90C-15C1-4B67-BA2A-E4CB5049B2BE}"/>
              </a:ext>
            </a:extLst>
          </p:cNvPr>
          <p:cNvSpPr>
            <a:spLocks noGrp="1"/>
          </p:cNvSpPr>
          <p:nvPr/>
        </p:nvSpPr>
        <p:spPr>
          <a:xfrm>
            <a:off x="8591550" y="3790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660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07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>
              <a:ext uri="{FF2B5EF4-FFF2-40B4-BE49-F238E27FC236}">
                <ns2:creationId id="{3CCBB581-0E95-4199-B19A-6D109DBEEA2C}"/>
              </a:ext>
            </a:extLst>
          </p:cNvPr>
          <p:cNvSpPr>
            <a:spLocks noGrp="1"/>
          </p:cNvSpPr>
          <p:nvPr/>
        </p:nvSpPr>
        <p:spPr>
          <a:xfrm>
            <a:off x="8972550" y="3219450"/>
            <a:ext cx="2209800" cy="1504950"/>
          </a:xfrm>
          <a:prstGeom prst="rect">
            <a:avLst/>
          </a:prstGeom>
          <a:solidFill>
            <a:srgbClr val="081019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FC9C841A-9828-46C4-AEC8-890A3076D021}"/>
              </a:ext>
            </a:extLst>
          </p:cNvPr>
          <p:cNvSpPr>
            <a:spLocks noGrp="1"/>
          </p:cNvSpPr>
          <p:nvPr/>
        </p:nvSpPr>
        <p:spPr>
          <a:xfrm>
            <a:off x="9163050" y="35052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합격 판정</a:t>
            </a:r>
          </a:p>
        </p:txBody>
      </p:sp>
      <p:sp>
        <p:nvSpPr>
          <p:cNvPr id="26" name="">
            <a:extLst>
              <a:ext uri="{FF2B5EF4-FFF2-40B4-BE49-F238E27FC236}">
                <ns2:creationId id="{18D3E257-DF48-4AEA-B520-F1DEB70870FE}"/>
              </a:ext>
            </a:extLst>
          </p:cNvPr>
          <p:cNvSpPr>
            <a:spLocks noGrp="1"/>
          </p:cNvSpPr>
          <p:nvPr/>
        </p:nvSpPr>
        <p:spPr>
          <a:xfrm>
            <a:off x="9163050" y="3924300"/>
            <a:ext cx="1828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AC response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transient</a:t>
            </a:r>
          </a:p>
          <a:p>
            <a:pPr algn="l">
              <a:defRPr sz="1125" b="0">
                <a:solidFill>
                  <a:srgbClr val="96A0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6A0AE"/>
                </a:solidFill>
                <a:latin typeface="Aptos"/>
                <a:ea typeface="Aptos"/>
                <a:cs typeface="Aptos"/>
              </a:rPr>
              <a:t>power/area</a:t>
            </a:r>
          </a:p>
        </p:txBody>
      </p:sp>
      <p:sp>
        <p:nvSpPr>
          <p:cNvPr id="27" name="">
            <a:extLst>
              <a:ext uri="{FF2B5EF4-FFF2-40B4-BE49-F238E27FC236}">
                <ns2:creationId id="{91C74D4D-108F-4A6E-9C04-DA6B84DC36A6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9525000" cy="552450"/>
          </a:xfrm>
          <a:prstGeom prst="rect">
            <a:avLst/>
          </a:prstGeom>
          <a:solidFill>
            <a:srgbClr val="070B12"/>
          </a:solidFill>
          <a:ln w="9525">
            <a:solidFill>
              <a:srgbClr val="26324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87B13E16-7D89-48CF-8279-2905E8C876F2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7FAFC"/>
                </a:solidFill>
                <a:latin typeface="Malgun Gothic"/>
                <a:ea typeface="Malgun Gothic"/>
                <a:cs typeface="Malgun Gothic"/>
              </a:rPr>
              <a:t>회로 문제: 증폭·대역·안정성·PPA trade-off를 동시에 만족하는 topology와 parameter를 찾아야 했다.</a:t>
            </a:r>
          </a:p>
        </p:txBody>
      </p:sp>
    </p:spTree>
    <p:extLst>
      <p:ext uri="{BB962C8B-B14F-4D97-AF65-F5344CB8AC3E}">
        <ns3:creationId val="1815864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2026-06-10T05:11:28.4130000Z</dcterms:created>
  <dcterms:modified xsi:type="dcterms:W3CDTF">2026-06-10T05:11:28.4130000Z</dcterms:modified>
</coreProperties>
</file>