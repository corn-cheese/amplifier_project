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ff128a845742a4" /><Relationship Type="http://schemas.openxmlformats.org/officeDocument/2006/relationships/extended-properties" Target="/docProps/app.xml" Id="R8a054cade1f84bec" /><Relationship Type="http://schemas.openxmlformats.org/officeDocument/2006/relationships/officeDocument" Target="/ppt/presentation.xml" Id="Rf42960b2e31143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8ada87e5874755"/>
  </p:sldMasterIdLst>
  <p:notesMasterIdLst>
    <p:notesMasterId xmlns:r="http://schemas.openxmlformats.org/officeDocument/2006/relationships" r:id="R66ce00a740b1408e"/>
  </p:notesMasterIdLst>
  <p:sldIdLst>
    <p:sldId xmlns:r="http://schemas.openxmlformats.org/officeDocument/2006/relationships" id="256" r:id="R86821ba40a5d4872"/>
    <p:sldId xmlns:r="http://schemas.openxmlformats.org/officeDocument/2006/relationships" id="257" r:id="R6f8c006b1bbd4dff"/>
    <p:sldId xmlns:r="http://schemas.openxmlformats.org/officeDocument/2006/relationships" id="258" r:id="R31519432df724146"/>
    <p:sldId xmlns:r="http://schemas.openxmlformats.org/officeDocument/2006/relationships" id="259" r:id="Rfd898581a28f4885"/>
    <p:sldId xmlns:r="http://schemas.openxmlformats.org/officeDocument/2006/relationships" id="260" r:id="Recd4a16900c0451f"/>
    <p:sldId xmlns:r="http://schemas.openxmlformats.org/officeDocument/2006/relationships" id="261" r:id="R8e7e659bd54846b1"/>
    <p:sldId xmlns:r="http://schemas.openxmlformats.org/officeDocument/2006/relationships" id="262" r:id="R858f6d74e06d4e42"/>
    <p:sldId xmlns:r="http://schemas.openxmlformats.org/officeDocument/2006/relationships" id="263" r:id="R7b7a528b7a9d435f"/>
    <p:sldId xmlns:r="http://schemas.openxmlformats.org/officeDocument/2006/relationships" id="264" r:id="R71518f6fef584abf"/>
    <p:sldId xmlns:r="http://schemas.openxmlformats.org/officeDocument/2006/relationships" id="265" r:id="R4142a8b1970d48b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a8a651a7ce40da" /><Relationship Type="http://schemas.openxmlformats.org/officeDocument/2006/relationships/slideMaster" Target="/ppt/slideMasters/slideMaster1.xml" Id="Re58ada87e5874755" /><Relationship Type="http://schemas.openxmlformats.org/officeDocument/2006/relationships/notesMaster" Target="/ppt/notesMasters/notesMaster1.xml" Id="R66ce00a740b1408e" /><Relationship Type="http://schemas.openxmlformats.org/officeDocument/2006/relationships/presProps" Target="/ppt/presProps.xml" Id="Rfafcfca8e50842aa" /><Relationship Type="http://schemas.openxmlformats.org/officeDocument/2006/relationships/viewProps" Target="/ppt/viewProps.xml" Id="Rc49c9cd8c47f413c" /><Relationship Type="http://schemas.openxmlformats.org/officeDocument/2006/relationships/tableStyles" Target="/ppt/tableStyles.xml" Id="R8a180f254e44414d" /><Relationship Type="http://schemas.openxmlformats.org/officeDocument/2006/relationships/slide" Target="/ppt/slides/slide1.xml" Id="R86821ba40a5d4872" /><Relationship Type="http://schemas.openxmlformats.org/officeDocument/2006/relationships/slide" Target="/ppt/slides/slide2.xml" Id="R6f8c006b1bbd4dff" /><Relationship Type="http://schemas.openxmlformats.org/officeDocument/2006/relationships/slide" Target="/ppt/slides/slide3.xml" Id="R31519432df724146" /><Relationship Type="http://schemas.openxmlformats.org/officeDocument/2006/relationships/slide" Target="/ppt/slides/slide4.xml" Id="Rfd898581a28f4885" /><Relationship Type="http://schemas.openxmlformats.org/officeDocument/2006/relationships/slide" Target="/ppt/slides/slide5.xml" Id="Recd4a16900c0451f" /><Relationship Type="http://schemas.openxmlformats.org/officeDocument/2006/relationships/slide" Target="/ppt/slides/slide6.xml" Id="R8e7e659bd54846b1" /><Relationship Type="http://schemas.openxmlformats.org/officeDocument/2006/relationships/slide" Target="/ppt/slides/slide7.xml" Id="R858f6d74e06d4e42" /><Relationship Type="http://schemas.openxmlformats.org/officeDocument/2006/relationships/slide" Target="/ppt/slides/slide8.xml" Id="R7b7a528b7a9d435f" /><Relationship Type="http://schemas.openxmlformats.org/officeDocument/2006/relationships/slide" Target="/ppt/slides/slide9.xml" Id="R71518f6fef584abf" /><Relationship Type="http://schemas.openxmlformats.org/officeDocument/2006/relationships/slide" Target="/ppt/slides/slide10.xml" Id="R4142a8b1970d48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6d02f020064c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f078936132499b" /><Relationship Type="http://schemas.openxmlformats.org/officeDocument/2006/relationships/notesMaster" Target="/ppt/notesMasters/notesMaster1.xml" Id="R13abe162f05b46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9462dfa84b4411" /><Relationship Type="http://schemas.openxmlformats.org/officeDocument/2006/relationships/notesMaster" Target="/ppt/notesMasters/notesMaster1.xml" Id="R130916c940d849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1b8412ad944d78" /><Relationship Type="http://schemas.openxmlformats.org/officeDocument/2006/relationships/notesMaster" Target="/ppt/notesMasters/notesMaster1.xml" Id="Re89c140ac3f945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d9abf277a44d86" /><Relationship Type="http://schemas.openxmlformats.org/officeDocument/2006/relationships/notesMaster" Target="/ppt/notesMasters/notesMaster1.xml" Id="R5e35ff662d7949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3a5bab6c9f491e" /><Relationship Type="http://schemas.openxmlformats.org/officeDocument/2006/relationships/notesMaster" Target="/ppt/notesMasters/notesMaster1.xml" Id="Rd8cf38bfe13445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4a00f423f94f3f" /><Relationship Type="http://schemas.openxmlformats.org/officeDocument/2006/relationships/notesMaster" Target="/ppt/notesMasters/notesMaster1.xml" Id="Rd97a747833184b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9da756da5a48cb" /><Relationship Type="http://schemas.openxmlformats.org/officeDocument/2006/relationships/notesMaster" Target="/ppt/notesMasters/notesMaster1.xml" Id="R9dd304d275a342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3d99df1a2c4730" /><Relationship Type="http://schemas.openxmlformats.org/officeDocument/2006/relationships/notesMaster" Target="/ppt/notesMasters/notesMaster1.xml" Id="Rad500060480944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3ab25e0ff143dc" /><Relationship Type="http://schemas.openxmlformats.org/officeDocument/2006/relationships/notesMaster" Target="/ppt/notesMasters/notesMaster1.xml" Id="R752a7849a9bb44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11a57f54884c48" /><Relationship Type="http://schemas.openxmlformats.org/officeDocument/2006/relationships/notesMaster" Target="/ppt/notesMasters/notesMaster1.xml" Id="Rcf5fb67a404241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53747dd2a94a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b20c7190ff457d" /><Relationship Type="http://schemas.openxmlformats.org/officeDocument/2006/relationships/slideLayout" Target="/ppt/slideLayouts/slideLayout1.xml" Id="R821b17fa788e40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1b17fa788e40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f569c2cfb4413" /><Relationship Type="http://schemas.openxmlformats.org/officeDocument/2006/relationships/notesSlide" Target="/ppt/notesSlides/notesSlide1.xml" Id="R80760bbb6d924e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e1f259a484e06" /><Relationship Type="http://schemas.openxmlformats.org/officeDocument/2006/relationships/notesSlide" Target="/ppt/notesSlides/notesSlide2.xml" Id="R6961153c708b4d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a53dba2e9462d" /><Relationship Type="http://schemas.openxmlformats.org/officeDocument/2006/relationships/notesSlide" Target="/ppt/notesSlides/notesSlide3.xml" Id="R5ae8db96341a44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5ca988b9247d9" /><Relationship Type="http://schemas.openxmlformats.org/officeDocument/2006/relationships/notesSlide" Target="/ppt/notesSlides/notesSlide4.xml" Id="Rdafad9f693c049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9fab3e4fa4ac2" /><Relationship Type="http://schemas.openxmlformats.org/officeDocument/2006/relationships/notesSlide" Target="/ppt/notesSlides/notesSlide5.xml" Id="Ra10a138458834b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f3681fe8b4f74" /><Relationship Type="http://schemas.openxmlformats.org/officeDocument/2006/relationships/notesSlide" Target="/ppt/notesSlides/notesSlide6.xml" Id="R58076ba5182d49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0cc2ffb7c46d0" /><Relationship Type="http://schemas.openxmlformats.org/officeDocument/2006/relationships/notesSlide" Target="/ppt/notesSlides/notesSlide7.xml" Id="R50344ffdc0c54b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37dd43f18456b" /><Relationship Type="http://schemas.openxmlformats.org/officeDocument/2006/relationships/image" Target="/ppt/media/image.png" Id="R642ccb8a0b2b4482" /><Relationship Type="http://schemas.openxmlformats.org/officeDocument/2006/relationships/notesSlide" Target="/ppt/notesSlides/notesSlide8.xml" Id="Rdf645a2e95e948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fcc191f384c7e" /><Relationship Type="http://schemas.openxmlformats.org/officeDocument/2006/relationships/notesSlide" Target="/ppt/notesSlides/notesSlide9.xml" Id="Ra7811edb797245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05d8940504e05" /><Relationship Type="http://schemas.openxmlformats.org/officeDocument/2006/relationships/notesSlide" Target="/ppt/notesSlides/notesSlide10.xml" Id="R928dfc46e85742a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5CCFD5-D937-4477-B41D-EA262DD5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76B50-5CDA-41FC-A4F1-927D1B00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2FF287-0BAA-420E-83F8-FAFD5848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660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07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0BABC2-B4EE-473E-84C4-6329C470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9334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AI Agent</a:t>
            </a:r>
          </a:p>
          <a:p xmlns:a="http://schemas.openxmlformats.org/drawingml/2006/main">
            <a:pPr algn="l">
              <a:defRPr sz="51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&amp; Agentic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7F997-52AC-4D78-99E7-F25F5309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7D3EA-9A63-4E3C-BF11-91540E6D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6A0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6A0AE"/>
                </a:solidFill>
                <a:latin typeface="Aptos"/>
                <a:ea typeface="Aptos"/>
                <a:cs typeface="Aptos"/>
              </a:rPr>
              <a:t>Tool Calling · Workflow Automation · Multi-Agent · LangGraph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4BC9C6-1ABD-4DAA-A74F-F3BFCAE5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29200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D7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DD7FF"/>
                </a:solidFill>
                <a:latin typeface="Malgun Gothic"/>
                <a:ea typeface="Malgun Gothic"/>
                <a:cs typeface="Malgun Gothic"/>
              </a:rPr>
              <a:t>Q5. 기존 챗봇과 무엇이 다른가?</a:t>
            </a:r>
          </a:p>
        </p:txBody>
      </p:sp>
    </p:spTree>
    <p:extLst>
      <p:ext uri="{BB962C8B-B14F-4D97-AF65-F5344CB8AC3E}">
        <p14:creationId xmlns:p14="http://schemas.microsoft.com/office/powerpoint/2010/main" val="9596246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315A6D-7546-4AC0-B517-E1053603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140A1-61AE-43A9-A5FC-16852955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30253CB2-F191-49EA-9FCB-017AF1B6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D7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4DD7FF"/>
                </a:solidFill>
                <a:latin typeface="Malgun Gothic"/>
                <a:ea typeface="Malgun Gothic"/>
                <a:cs typeface="Malgun Gothic"/>
              </a:rPr>
              <a:t>문제 제시</a:t>
            </a:r>
          </a:p>
        </p:txBody>
      </p:sp>
      <p:sp>
        <p:nvSpPr>
          <p:cNvPr id="4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8529C49C-78C4-4C4D-9AED-822BB9AA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2BCDC-E7E3-4499-9551-B18014E3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579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6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66071"/>
                </a:solidFill>
                <a:latin typeface="Malgun Gothic"/>
                <a:ea typeface="Malgun Gothic"/>
                <a:cs typeface="Malgun Gothic"/>
              </a:rPr>
              <a:t>Topic prompt: agentic workflow robustness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A1AF0-D8F1-4C82-9B06-984995A2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660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07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75EF5-78D0-4232-BBE9-C977DED1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챗봇 대화는 길어질수록</a:t>
            </a:r>
          </a:p>
          <a:p xmlns:a="http://schemas.openxmlformats.org/drawingml/2006/main">
            <a:pPr algn="l">
              <a:defRPr sz="31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실행 구조 없이 흔들린다.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D83E91-25FE-4667-89B2-6FE89D96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619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Agentic AI는 단순 답변이 아니라 반복 작업을 실행한다.</a:t>
            </a:r>
          </a:p>
          <a:p xmlns:a="http://schemas.openxmlformats.org/drawingml/2006/main">
            <a:pPr algn="l">
              <a:defRPr sz="1500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그래서 상태, 로그, 분기, 실패 분석이 없으면 결과를 믿기 어렵다.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E82B3A-C8C6-465E-B110-BCBE340F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76300"/>
            <a:ext cx="37147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2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21678-6332-49DA-997A-F3F13CB8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382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반복 workflow에서 생기는 균열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5DB854-D267-4D53-87B3-CE9EDD48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47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3432AA-8D04-4C23-9B02-B90520E8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716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이전 상태가 대화 맥락에만 묻힘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CEB00A-BD56-48AA-B640-82835239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38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6C7301-294D-4A07-811D-774D93FD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622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분기 기준이 암묵적으로 바뀜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F570B9-5DF8-4347-877D-C417DBE0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28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E59811-A468-40CF-9B87-2CC31176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527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도구 실행 로그가 흩어짐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63D47C-B768-45DB-AA58-7FB52FCC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B0A066-F570-4DCF-8752-E9344365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433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실패 후 원인 추적이 어려움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C9589A-A833-44D2-8C46-9EF1873F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550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9A5F5D-7ECE-433C-B592-7B1FDE28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1066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9"/>
          </a:solidFill>
          <a:ln xmlns:a="http://schemas.openxmlformats.org/drawingml/2006/main" w="9525">
            <a:solidFill>
              <a:srgbClr val="4DD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91F0AC-D1A6-4291-A28B-47AC7AE7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DD7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4DD7FF"/>
                </a:solidFill>
                <a:latin typeface="Malgun Gothic"/>
                <a:ea typeface="Malgun Gothic"/>
                <a:cs typeface="Malgun Gothic"/>
              </a:rPr>
              <a:t>질문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EEEF2A-4BC6-4C05-AD5F-F31F8B2F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2481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60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2A3033-45E9-4562-A7AD-87E367B7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905250"/>
            <a:ext cx="1066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9"/>
          </a:solidFill>
          <a:ln xmlns:a="http://schemas.openxmlformats.org/drawingml/2006/main" w="9525">
            <a:solidFill>
              <a:srgbClr val="70F0A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C1152E-CB60-4123-9CE7-2ED4B532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1148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0F0A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70F0A0"/>
                </a:solidFill>
                <a:latin typeface="Malgun Gothic"/>
                <a:ea typeface="Malgun Gothic"/>
                <a:cs typeface="Malgun Gothic"/>
              </a:rPr>
              <a:t>응답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460597-F56C-4878-B584-84E94E66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2481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60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C3E47F-713A-456F-846C-03738684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905250"/>
            <a:ext cx="1066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9"/>
          </a:solidFill>
          <a:ln xmlns:a="http://schemas.openxmlformats.org/drawingml/2006/main" w="9525">
            <a:solidFill>
              <a:srgbClr val="FFCA5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15F801-02D4-4FF0-BD58-753835CA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148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CA5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CA5C"/>
                </a:solidFill>
                <a:latin typeface="Malgun Gothic"/>
                <a:ea typeface="Malgun Gothic"/>
                <a:cs typeface="Malgun Gothic"/>
              </a:rPr>
              <a:t>수정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AE0BB7-ED33-4FD7-9EF3-E9D86747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481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60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5123A5-A4C7-4F5F-89B7-39B8B7CF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905250"/>
            <a:ext cx="1066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9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98AD0F-B0C1-4433-A964-75A3C9BC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1148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6B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6B6B"/>
                </a:solidFill>
                <a:latin typeface="Malgun Gothic"/>
                <a:ea typeface="Malgun Gothic"/>
                <a:cs typeface="Malgun Gothic"/>
              </a:rPr>
              <a:t>재시도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D5A136-7822-4ADC-A3D6-04DAB8D1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문제는 반복 자체가 아니라,</a:t>
            </a:r>
          </a:p>
          <a:p xmlns:a="http://schemas.openxmlformats.org/drawingml/2006/main">
            <a:pPr algn="l">
              <a:defRPr sz="16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반복을 검증 가능한 상태 기계로 남기지 못하는 것이다.</a:t>
            </a:r>
          </a:p>
        </p:txBody>
      </p:sp>
    </p:spTree>
    <p:extLst>
      <p:ext uri="{BB962C8B-B14F-4D97-AF65-F5344CB8AC3E}">
        <p14:creationId xmlns:p14="http://schemas.microsoft.com/office/powerpoint/2010/main" val="5079758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F37062-2A1A-4EB1-A984-AEF05D60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49700-D1E5-4972-993C-9675D1C2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FAB446C7-67F7-4CC7-A934-BAC8A144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D7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4DD7FF"/>
                </a:solidFill>
                <a:latin typeface="Malgun Gothic"/>
                <a:ea typeface="Malgun Gothic"/>
                <a:cs typeface="Malgun Gothic"/>
              </a:rPr>
              <a:t>LangGraph 개념</a:t>
            </a:r>
          </a:p>
        </p:txBody>
      </p:sp>
      <p:sp>
        <p:nvSpPr>
          <p:cNvPr id="4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D3339E40-3BAE-4026-B6F0-07A02AF6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B568A-1760-46F8-B70D-476B336F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579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6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66071"/>
                </a:solidFill>
                <a:latin typeface="Malgun Gothic"/>
                <a:ea typeface="Malgun Gothic"/>
                <a:cs typeface="Malgun Gothic"/>
              </a:rPr>
              <a:t>Sources: LangGraph overview, workflows/agents, persistence, interrupts docs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1AD2A-C9CB-4DD3-BC55-A502FB76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660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07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A255C-EA2A-4AD5-AA02-FA49A998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7810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LangGraph는 agent를</a:t>
            </a:r>
          </a:p>
          <a:p xmlns:a="http://schemas.openxmlformats.org/drawingml/2006/main">
            <a:pPr algn="l">
              <a:defRPr sz="31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상태를 가진 graph로 실행한다.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4DCE4D-6246-482C-B028-4CD77443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619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핵심은 LLM을 더 크게 쓰는 것이 아니라,</a:t>
            </a:r>
          </a:p>
          <a:p xmlns:a="http://schemas.openxmlformats.org/drawingml/2006/main">
            <a:pPr algn="l">
              <a:defRPr sz="142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LLM·도구·검증·사람 개입을 명시적 node와 route로 묶는 것이다.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CE370A-C403-47CA-B6E0-DF9203AC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9"/>
          </a:solidFill>
          <a:ln xmlns:a="http://schemas.openxmlformats.org/drawingml/2006/main" w="9525">
            <a:solidFill>
              <a:srgbClr val="4DD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2C445B-FC47-469D-9554-FD962834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81350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E9E2B7-ADDD-4BA3-B4A0-1E103AFF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5760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작업 기억</a:t>
            </a:r>
          </a:p>
          <a:p xmlns:a="http://schemas.openxmlformats.org/drawingml/2006/main"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metrics/log/context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FADA26-1D66-48C6-A082-04BD8AB8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28950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9"/>
          </a:solidFill>
          <a:ln xmlns:a="http://schemas.openxmlformats.org/drawingml/2006/main" w="9525">
            <a:solidFill>
              <a:srgbClr val="70F0A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FE88BC-DA1E-4A49-B32E-7BC9C792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81350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Node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98D9C1-21CF-473C-BBAD-F84D4030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65760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LLM 호출</a:t>
            </a:r>
          </a:p>
          <a:p xmlns:a="http://schemas.openxmlformats.org/drawingml/2006/main"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Tool 실행</a:t>
            </a:r>
          </a:p>
          <a:p xmlns:a="http://schemas.openxmlformats.org/drawingml/2006/main"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검증 함수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9415BC-D3A2-4B4F-91CD-DE35C864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28950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9"/>
          </a:solidFill>
          <a:ln xmlns:a="http://schemas.openxmlformats.org/drawingml/2006/main" w="9525">
            <a:solidFill>
              <a:srgbClr val="FFCA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E27B7D-5BA5-4EDF-9790-97D4B98A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81350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Route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5AD76D-70C0-4C84-9F77-91CCD0DF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5760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조건 분기</a:t>
            </a:r>
          </a:p>
          <a:p xmlns:a="http://schemas.openxmlformats.org/drawingml/2006/main"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retry / stop</a:t>
            </a:r>
          </a:p>
          <a:p xmlns:a="http://schemas.openxmlformats.org/drawingml/2006/main"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human interrupt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5596E8-7281-4378-9D85-931B173E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2895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9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DDAA31-E261-4420-A5A5-CC3A68AD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81350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Checkpoint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2BEE77-FB2F-4611-A731-3E5496C3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5760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재시작과 감사</a:t>
            </a:r>
          </a:p>
          <a:p xmlns:a="http://schemas.openxmlformats.org/drawingml/2006/main"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실패 지점 복원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B16689-3C4C-43A7-851F-440C2252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385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60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312D95-EA59-4470-97DC-3BD3E562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385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60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D24B79-CDBE-428A-95A5-CA30E68B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385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60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1ECD04-8D58-47B9-A9CC-B4549139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76800"/>
            <a:ext cx="8858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2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8BEADF-19B7-4BC9-84AD-1F64EA29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1015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2번 문제와의 연결: 상태는 파일/체크포인트에 남고, 분기는 edge로 고정되며, 실패는 로그와 interrupt로 분석 가능한 사건이 된다.</a:t>
            </a:r>
          </a:p>
        </p:txBody>
      </p:sp>
    </p:spTree>
    <p:extLst>
      <p:ext uri="{BB962C8B-B14F-4D97-AF65-F5344CB8AC3E}">
        <p14:creationId xmlns:p14="http://schemas.microsoft.com/office/powerpoint/2010/main" val="210170821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A0F908-D989-4D93-84C7-E2BE049C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1A4BA8-8C20-4C7B-83D1-8BCE3D63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A4CEBB84-9922-43DD-BDE2-E91C841D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D7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4DD7FF"/>
                </a:solidFill>
                <a:latin typeface="Malgun Gothic"/>
                <a:ea typeface="Malgun Gothic"/>
                <a:cs typeface="Malgun Gothic"/>
              </a:rPr>
              <a:t>장단점</a:t>
            </a:r>
          </a:p>
        </p:txBody>
      </p:sp>
      <p:sp>
        <p:nvSpPr>
          <p:cNvPr id="4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E2ACE6ED-A404-4E44-9387-50216576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3A137F-5B3D-4F9B-8E0B-5EEFE7B3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579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6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66071"/>
                </a:solidFill>
                <a:latin typeface="Malgun Gothic"/>
                <a:ea typeface="Malgun Gothic"/>
                <a:cs typeface="Malgun Gothic"/>
              </a:rPr>
              <a:t>Sources: LangGraph docs and project implementation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A718B-E3DD-4B50-A73A-1CE790DF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660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07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A5CEB-6552-48A6-8D3F-9C15B083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LangGraph는 제어권을 주지만,</a:t>
            </a:r>
          </a:p>
          <a:p xmlns:a="http://schemas.openxmlformats.org/drawingml/2006/main">
            <a:pPr algn="l">
              <a:def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그만큼 설계 책임도 요구한다.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40F728-6E47-4C22-AFE0-865F6DEF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495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9525">
            <a:solidFill>
              <a:srgbClr val="70F0A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7AD971-0491-4B37-9309-4DE1AC43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09800"/>
            <a:ext cx="495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0B0D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0F3E71-7BAA-4892-AF7E-2783DCDD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146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0F0A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70F0A0"/>
                </a:solidFill>
                <a:latin typeface="Malgun Gothic"/>
                <a:ea typeface="Malgun Gothic"/>
                <a:cs typeface="Malgun Gothic"/>
              </a:rPr>
              <a:t>장점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4E4381-5C2B-484B-B979-037F37E4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146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6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6B6B"/>
                </a:solidFill>
                <a:latin typeface="Malgun Gothic"/>
                <a:ea typeface="Malgun Gothic"/>
                <a:cs typeface="Malgun Gothic"/>
              </a:rPr>
              <a:t>단점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854B5A-414F-438D-A21C-E5775AA0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F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869127-54BA-466A-9D7D-BC8E9241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8610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상태 기반 workflow 제어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77AEDA-2C27-4F43-8A88-E78E0D43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F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C59EA2-3B35-43ED-B788-85ED8253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2425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조건 분기와 중단 지점 명시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F6EC01-D42C-4743-95A8-CF0ED6E2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F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6AE7A6-74DD-4106-BBFE-EF1EE113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6240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재시작·재개·human-in-the-loop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3491A8-E1BD-4F2B-A6EE-E1D37EA5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76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F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C43F3C-C467-4B3E-AA58-4D441656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0055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Tool 호출과 검증을 같은 graph에 배치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92858C-F15E-458A-86E3-6D982B4E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F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AF4E21-047E-40B2-87AD-CF9EEBE0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3870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복잡한 실행 경로를 로그로 추적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50FFA6-151D-41CD-B3C1-2616852D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62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84A18B-C31C-4D99-B757-45915748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8610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초기 graph 설계 비용 증가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178522-C14B-4065-BEE5-6B1A357D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00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0D30B5-32C9-4677-9E84-D3D28B4E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2425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state schema와 artifact 계약 관리 필요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74D8EB-74D0-410D-A8D5-ED041A5D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38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6E9D63-67C6-455D-98D1-37A17455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6240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도메인 검증 로직은 직접 구현해야 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29DEC4-8B77-4FA8-9291-C96A518F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76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47AC0A-EDFA-48A5-8C9A-D241BC5A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40055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작은 문제에는 과한 구조가 될 수 있음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D16DC6-94B7-4210-927F-6370F179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39743D-BC40-4997-AF6B-7C5F57B5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83870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LLM 품질 문제를 자동으로 해결하지는 않음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7D9F51-039A-47B2-B3AD-62A311A7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24550"/>
            <a:ext cx="981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요약: LangGraph는 답변 품질을 직접 보장하기보다, 실행 과정을 통제하고 검증 가능하게 만드는 프레임이다.</a:t>
            </a:r>
          </a:p>
        </p:txBody>
      </p:sp>
    </p:spTree>
    <p:extLst>
      <p:ext uri="{BB962C8B-B14F-4D97-AF65-F5344CB8AC3E}">
        <p14:creationId xmlns:p14="http://schemas.microsoft.com/office/powerpoint/2010/main" val="5771477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614D40-6D6E-42B9-A504-D9DC9FBB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285843-5CE4-4BFA-B7D1-0753A16C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80EFA503-0324-42EC-A48E-3018322F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D7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4DD7FF"/>
                </a:solidFill>
                <a:latin typeface="Malgun Gothic"/>
                <a:ea typeface="Malgun Gothic"/>
                <a:cs typeface="Malgun Gothic"/>
              </a:rPr>
              <a:t>Amplifier Project 문제</a:t>
            </a:r>
          </a:p>
        </p:txBody>
      </p:sp>
      <p:sp>
        <p:nvSpPr>
          <p:cNvPr id="4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F4DE482A-97C6-4AD3-BDAE-09A65BFA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7AFC0-B69B-4F66-A2DD-A5F6224E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579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6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66071"/>
                </a:solidFill>
                <a:latin typeface="Malgun Gothic"/>
                <a:ea typeface="Malgun Gothic"/>
                <a:cs typeface="Malgun Gothic"/>
              </a:rPr>
              <a:t>Sources: docs/top-coordinator-contract.md, runner_config.json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708807-2AF3-4F89-AE66-352585A1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660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07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62C910-4F76-4F19-A915-E62EDEDB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953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회로 후보를 많이 만드는 것보다</a:t>
            </a:r>
          </a:p>
          <a:p xmlns:a="http://schemas.openxmlformats.org/drawingml/2006/main">
            <a:pPr algn="l">
              <a:def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틀린 후보를 걸러내는 구조가 더 중요했다.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0D840-FF0C-4D7D-A41A-08A49AC4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876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LLM은 topology와 parameter 가설을 빠르게 낸다. 하지만 회로 탐색은 자연어 설득이 아니라 Spectre 검증과 artifact 증거로 닫혀야 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18DBD7-9BDA-4790-9E25-B49B52E2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22098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9"/>
          </a:solidFill>
          <a:ln xmlns:a="http://schemas.openxmlformats.org/drawingml/2006/main" w="9525">
            <a:solidFill>
              <a:srgbClr val="4DD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717EE9-EA7C-48AD-A521-1705DD4B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LLM 후보 생성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FE5A5D-E13E-424E-9BB6-EEB28457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1828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6A0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6A0AE"/>
                </a:solidFill>
                <a:latin typeface="Aptos"/>
                <a:ea typeface="Aptos"/>
                <a:cs typeface="Aptos"/>
              </a:rPr>
              <a:t>patch.diff</a:t>
            </a:r>
          </a:p>
          <a:p xmlns:a="http://schemas.openxmlformats.org/drawingml/2006/main">
            <a:pPr algn="l">
              <a:defRPr sz="1125" b="0">
                <a:solidFill>
                  <a:srgbClr val="96A0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6A0AE"/>
                </a:solidFill>
                <a:latin typeface="Aptos"/>
                <a:ea typeface="Aptos"/>
                <a:cs typeface="Aptos"/>
              </a:rPr>
              <a:t>proposal.json</a:t>
            </a:r>
          </a:p>
          <a:p xmlns:a="http://schemas.openxmlformats.org/drawingml/2006/main">
            <a:pPr algn="l">
              <a:defRPr sz="1125" b="0">
                <a:solidFill>
                  <a:srgbClr val="96A0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6A0AE"/>
                </a:solidFill>
                <a:latin typeface="Aptos"/>
                <a:ea typeface="Aptos"/>
                <a:cs typeface="Aptos"/>
              </a:rPr>
              <a:t>notes.md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42353A-E6F2-4558-83ED-4C03BBA0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624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60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1AE145-9008-4B8F-A659-4B00055B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7909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6607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07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53EFDC-DC55-44DF-9A7A-7B26CAB8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19450"/>
            <a:ext cx="22098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9"/>
          </a:solidFill>
          <a:ln xmlns:a="http://schemas.openxmlformats.org/drawingml/2006/main" w="9525">
            <a:solidFill>
              <a:srgbClr val="FFCA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E43B31-E050-4407-88DF-03ED28B1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50520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Hard invariants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97AFE0-1ECC-48C5-8244-274F841B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924300"/>
            <a:ext cx="1828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6A0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6A0AE"/>
                </a:solidFill>
                <a:latin typeface="Aptos"/>
                <a:ea typeface="Aptos"/>
                <a:cs typeface="Aptos"/>
              </a:rPr>
              <a:t>pin contract</a:t>
            </a:r>
          </a:p>
          <a:p xmlns:a="http://schemas.openxmlformats.org/drawingml/2006/main">
            <a:pPr algn="l">
              <a:defRPr sz="1125" b="0">
                <a:solidFill>
                  <a:srgbClr val="96A0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6A0AE"/>
                </a:solidFill>
                <a:latin typeface="Aptos"/>
                <a:ea typeface="Aptos"/>
                <a:cs typeface="Aptos"/>
              </a:rPr>
              <a:t>forbidden shortcut</a:t>
            </a:r>
          </a:p>
          <a:p xmlns:a="http://schemas.openxmlformats.org/drawingml/2006/main">
            <a:pPr algn="l">
              <a:defRPr sz="1125" b="0">
                <a:solidFill>
                  <a:srgbClr val="96A0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6A0AE"/>
                </a:solidFill>
                <a:latin typeface="Aptos"/>
                <a:ea typeface="Aptos"/>
                <a:cs typeface="Aptos"/>
              </a:rPr>
              <a:t>file scope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5229AA-7F1D-43E3-AD08-D8F9446B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9624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60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31856F-ADA3-4007-AEE9-DB96A740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7909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6607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07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070D04-0484-464E-8473-47FAF3DA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19450"/>
            <a:ext cx="22098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9"/>
          </a:solidFill>
          <a:ln xmlns:a="http://schemas.openxmlformats.org/drawingml/2006/main" w="9525">
            <a:solidFill>
              <a:srgbClr val="70F0A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5202CD-AE19-4AF5-BAC0-8DD27395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0520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EDA 검증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7AD0F8-82C3-429E-962A-6A65DC79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24300"/>
            <a:ext cx="1828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6A0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6A0AE"/>
                </a:solidFill>
                <a:latin typeface="Aptos"/>
                <a:ea typeface="Aptos"/>
                <a:cs typeface="Aptos"/>
              </a:rPr>
              <a:t>Spectre logs</a:t>
            </a:r>
          </a:p>
          <a:p xmlns:a="http://schemas.openxmlformats.org/drawingml/2006/main">
            <a:pPr algn="l">
              <a:defRPr sz="1125" b="0">
                <a:solidFill>
                  <a:srgbClr val="96A0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6A0AE"/>
                </a:solidFill>
                <a:latin typeface="Aptos"/>
                <a:ea typeface="Aptos"/>
                <a:cs typeface="Aptos"/>
              </a:rPr>
              <a:t>ppa_metrics</a:t>
            </a:r>
          </a:p>
          <a:p xmlns:a="http://schemas.openxmlformats.org/drawingml/2006/main">
            <a:pPr algn="l">
              <a:defRPr sz="1125" b="0">
                <a:solidFill>
                  <a:srgbClr val="96A0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6A0AE"/>
                </a:solidFill>
                <a:latin typeface="Aptos"/>
                <a:ea typeface="Aptos"/>
                <a:cs typeface="Aptos"/>
              </a:rPr>
              <a:t>verification.json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66F8C8-9A22-47B3-B12B-F4B9316E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624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60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30D90C-15C1-4B67-BA2A-E4CB5049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909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6607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07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CBB581-0E95-4199-B19A-6D109DBE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19450"/>
            <a:ext cx="22098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9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9C841A-9828-46C4-AEC8-890A3076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0520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기록/승격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D3E257-DF48-4AEA-B520-F1DEB708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24300"/>
            <a:ext cx="1828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6A0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6A0AE"/>
                </a:solidFill>
                <a:latin typeface="Aptos"/>
                <a:ea typeface="Aptos"/>
                <a:cs typeface="Aptos"/>
              </a:rPr>
              <a:t>ledger</a:t>
            </a:r>
          </a:p>
          <a:p xmlns:a="http://schemas.openxmlformats.org/drawingml/2006/main">
            <a:pPr algn="l">
              <a:defRPr sz="1125" b="0">
                <a:solidFill>
                  <a:srgbClr val="96A0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6A0AE"/>
                </a:solidFill>
                <a:latin typeface="Aptos"/>
                <a:ea typeface="Aptos"/>
                <a:cs typeface="Aptos"/>
              </a:rPr>
              <a:t>state</a:t>
            </a:r>
          </a:p>
          <a:p xmlns:a="http://schemas.openxmlformats.org/drawingml/2006/main">
            <a:pPr algn="l">
              <a:defRPr sz="1125" b="0">
                <a:solidFill>
                  <a:srgbClr val="96A0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6A0AE"/>
                </a:solidFill>
                <a:latin typeface="Aptos"/>
                <a:ea typeface="Aptos"/>
                <a:cs typeface="Aptos"/>
              </a:rPr>
              <a:t>accepted only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C74D4D-108F-4A6E-9C04-DA6B84DC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952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2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B13E16-7D89-48CF-8279-2905E8C8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29250"/>
            <a:ext cx="876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거시 문제: 반복 탐색을 자동화하되, 평가 조건·파일 범위·검증 산출물·실패 원인이 항상 남아야 한다.</a:t>
            </a:r>
          </a:p>
        </p:txBody>
      </p:sp>
    </p:spTree>
    <p:extLst>
      <p:ext uri="{BB962C8B-B14F-4D97-AF65-F5344CB8AC3E}">
        <p14:creationId xmlns:p14="http://schemas.microsoft.com/office/powerpoint/2010/main" val="181586442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4F553F-0C34-465C-B10B-CA674BEB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DC6B1-78C1-435C-B5A3-0BFEA3C5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0C87B2C8-BC8D-4788-A656-C3BA80F2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D7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4DD7FF"/>
                </a:solidFill>
                <a:latin typeface="Malgun Gothic"/>
                <a:ea typeface="Malgun Gothic"/>
                <a:cs typeface="Malgun Gothic"/>
              </a:rPr>
              <a:t>실제 Workflow 구조화</a:t>
            </a:r>
          </a:p>
        </p:txBody>
      </p:sp>
      <p:sp>
        <p:nvSpPr>
          <p:cNvPr id="4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EAF27864-0176-450E-9924-B671A2FC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08DB0E-4129-4BEE-8CCA-79EA47DC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579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6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66071"/>
                </a:solidFill>
                <a:latin typeface="Malgun Gothic"/>
                <a:ea typeface="Malgun Gothic"/>
                <a:cs typeface="Malgun Gothic"/>
              </a:rPr>
              <a:t>Sources: langgraph_runner/graph.py, docs/langgraph-runner.md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99082-CD7F-4922-B077-A5725205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660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07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F243ED-765F-4E1D-8961-7EB931D0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953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Topology → Verifier → Sweep → 검증을</a:t>
            </a:r>
          </a:p>
          <a:p xmlns:a="http://schemas.openxmlformats.org/drawingml/2006/main">
            <a:pPr algn="l">
              <a:def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LangGraph workflow로 구조화했다.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1E1D3B-9735-4F4C-ACA5-80D5B687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23431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9"/>
          </a:solidFill>
          <a:ln xmlns:a="http://schemas.openxmlformats.org/drawingml/2006/main" w="9525">
            <a:solidFill>
              <a:srgbClr val="4DD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6307E7-886B-4E69-A18C-31FF5F28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384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Topology proposal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7512E6-FFD5-4E17-8C30-1A0A55CF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plan_batch</a:t>
            </a:r>
          </a:p>
          <a:p xmlns:a="http://schemas.openxmlformats.org/drawingml/2006/main"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spawn_subagents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78D976-EFF3-46C5-93A1-B79D90D6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52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60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0E4063-6413-4B1A-BC91-C052E7B2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81350"/>
            <a:ext cx="28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6607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6607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4C69A6-9AC0-4FD1-9ED6-0E896A8E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86050"/>
            <a:ext cx="23431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9"/>
          </a:solidFill>
          <a:ln xmlns:a="http://schemas.openxmlformats.org/drawingml/2006/main" w="9525">
            <a:solidFill>
              <a:srgbClr val="FFCA5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D2872B-1232-443E-9B7E-01462042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384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Deterministic reviewer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1773F4-0F76-4EC2-9F78-33CFF4F1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147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assemble_candidate_proposals</a:t>
            </a:r>
          </a:p>
          <a:p xmlns:a="http://schemas.openxmlformats.org/drawingml/2006/main"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deterministic_review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D5B43C-E334-43B1-AED5-5F8CCFC3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52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60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726ADD-4AE1-45EF-BAEA-DBA86597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81350"/>
            <a:ext cx="28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6607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6607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0DA9C7-871B-44EC-BAED-40D40EEF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23431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9"/>
          </a:solidFill>
          <a:ln xmlns:a="http://schemas.openxmlformats.org/drawingml/2006/main" w="9525">
            <a:solidFill>
              <a:srgbClr val="70F0A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6EFF37-1420-4639-A4C2-76AC1A2B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384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Sweep / EDA verification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D402B9-D5DA-40F4-8818-38933EBD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147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verify_queue</a:t>
            </a:r>
          </a:p>
          <a:p xmlns:a="http://schemas.openxmlformats.org/drawingml/2006/main"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required outputs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EB5ABF-9079-407E-B481-DD6C633E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52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60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F1A3D0-ACE8-4664-AEF5-E8305694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81350"/>
            <a:ext cx="28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6607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6607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BA6396-46B4-4A67-A3AE-C4D1B189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86050"/>
            <a:ext cx="23431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9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4B4229-7F4D-4A05-BEB7-9EE0D09A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384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Evaluation / promotion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0F3E82-9DFC-4640-8F82-1840917B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147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evaluate_candidates</a:t>
            </a:r>
          </a:p>
          <a:p xmlns:a="http://schemas.openxmlformats.org/drawingml/2006/main"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record_batch</a:t>
            </a:r>
          </a:p>
          <a:p xmlns:a="http://schemas.openxmlformats.org/drawingml/2006/main"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route_next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350B19-1ECA-4490-945B-B81459AD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942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2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79F502-FC02-4A0A-A370-4B411200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958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D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4DD7FF"/>
                </a:solidFill>
                <a:latin typeface="Aptos Display"/>
                <a:ea typeface="Aptos Display"/>
                <a:cs typeface="Aptos Display"/>
              </a:rPr>
              <a:t>Canonical state &amp; artifacts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44A01B-EAD8-4585-90CA-C4FC8B56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57800"/>
            <a:ext cx="561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state.json · ledger.jsonl · candidates/&lt;id&gt;/ · workspaces/&lt;id&gt;/ · runs/&lt;run_id&gt;/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72B512-B522-4867-801A-866A4B74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0101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핵심은 checkpoint보다 canonical artifact를 신뢰하게 만든 점이다.</a:t>
            </a:r>
          </a:p>
        </p:txBody>
      </p:sp>
    </p:spTree>
    <p:extLst>
      <p:ext uri="{BB962C8B-B14F-4D97-AF65-F5344CB8AC3E}">
        <p14:creationId xmlns:p14="http://schemas.microsoft.com/office/powerpoint/2010/main" val="56065916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C4EB5C-6F50-4A31-914A-13D01C7E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8A818-77EA-4F52-B8B4-6CB106AC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2CEF3677-5204-42A3-BC47-3ED6F8ED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D7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4DD7FF"/>
                </a:solidFill>
                <a:latin typeface="Malgun Gothic"/>
                <a:ea typeface="Malgun Gothic"/>
                <a:cs typeface="Malgun Gothic"/>
              </a:rPr>
              <a:t>프로젝트에서의 장점</a:t>
            </a:r>
          </a:p>
        </p:txBody>
      </p:sp>
      <p:sp>
        <p:nvSpPr>
          <p:cNvPr id="4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5DFB1A12-ECA1-4184-AD9A-904F238D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B9B5A-0F32-4FA3-A287-2EB984AF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579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6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66071"/>
                </a:solidFill>
                <a:latin typeface="Malgun Gothic"/>
                <a:ea typeface="Malgun Gothic"/>
                <a:cs typeface="Malgun Gothic"/>
              </a:rPr>
              <a:t>Sources: docs/langgraph-runner.md, Best/trial_0066 artifacts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6B716-6E00-43E6-82AC-397BDA23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660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07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A9CDC-3BE2-4C3E-A290-C9FB0D18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953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실제 이득은 'AI가 다 해줌'이 아니라</a:t>
            </a:r>
          </a:p>
          <a:p xmlns:a="http://schemas.openxmlformats.org/drawingml/2006/main">
            <a:pPr algn="l">
              <a:def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증거가 남는 탐색 구조였다.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A5C12-0382-45B2-8446-5C1870C7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3028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9"/>
          </a:solidFill>
          <a:ln xmlns:a="http://schemas.openxmlformats.org/drawingml/2006/main" w="9525">
            <a:solidFill>
              <a:srgbClr val="4DD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AD2463-8E3E-4C3A-99E1-A650AB83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표준 후보 산출물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2E8F20-6EBA-4800-BB11-EDFF430B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proposal.json / patch.diff / notes.md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1814F9-34B2-4792-A1BF-510E4DBD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76500"/>
            <a:ext cx="3028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9"/>
          </a:solidFill>
          <a:ln xmlns:a="http://schemas.openxmlformats.org/drawingml/2006/main" w="9525">
            <a:solidFill>
              <a:srgbClr val="70F0A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2A7F57-D531-47DE-9CC0-5E453B5E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검증 직렬화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EE3363-B45E-4865-BAF2-3692AB3A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99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EDA backend 과부하와 stale output 방지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473266-0F52-4268-8ADB-4E4B5605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3028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9"/>
          </a:solidFill>
          <a:ln xmlns:a="http://schemas.openxmlformats.org/drawingml/2006/main" w="9525">
            <a:solidFill>
              <a:srgbClr val="FFCA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65846C-0905-4F31-979D-C3CC8EF3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670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Artifact 기반 판단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49C329-F7C9-436D-BE2B-4EB06895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99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stdout 설득이 아니라 metrics와 logs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B75E88-39E2-4865-BD8D-43573299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3028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9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E13494-A058-44EC-A994-981F244C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실패 후보 보존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116BAC-8B41-43F6-B2E3-5EA4DA70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재시도 원인과 반복 실패 패턴 추적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869B11-676D-4155-9EFA-733A54D1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57625"/>
            <a:ext cx="3028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9"/>
          </a:solidFill>
          <a:ln xmlns:a="http://schemas.openxmlformats.org/drawingml/2006/main" w="9525">
            <a:solidFill>
              <a:srgbClr val="4DD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C52232-B532-4605-99B5-AF0A7A34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48125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승격 통제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A2991A-FCEB-49B0-B355-0FE7D942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9102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accepted candidate만 DUT/devices.csv에 반영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95ECDE-3C18-4127-8AA4-A214185B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57625"/>
            <a:ext cx="3028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9"/>
          </a:solidFill>
          <a:ln xmlns:a="http://schemas.openxmlformats.org/drawingml/2006/main" w="9525">
            <a:solidFill>
              <a:srgbClr val="70F0A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1F81E3-AC15-4AF7-89EF-7F0E44AF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48125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사람 개입 지점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5A3183-0255-43F3-86A5-1262801C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9102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anomaly와 verifier failure에서 interrupt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84550A-C3E2-4804-9826-430EEBED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86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0F0A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70F0A0"/>
                </a:solidFill>
                <a:latin typeface="Aptos Display"/>
                <a:ea typeface="Aptos Display"/>
                <a:cs typeface="Aptos Display"/>
              </a:rPr>
              <a:t>review: passed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60CF86-D3E0-44EB-957D-84CCC2C1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864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Best/trial_0066 deterministic checks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BFF033-04FA-4FE3-A3BD-CAD82D0B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864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DD7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4DD7FF"/>
                </a:solidFill>
                <a:latin typeface="Aptos Display"/>
                <a:ea typeface="Aptos Display"/>
                <a:cs typeface="Aptos Display"/>
              </a:rPr>
              <a:t>0.0689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8A5512-0FE5-4F3C-B499-22727862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864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performance_nrmse_combined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EF70CC-39F7-4570-89B8-9C1C3351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0070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작업 결과가 말이 아니라 파일과 숫자로 남았기 때문에, 다음 탐색이 같은 실패를 덜 반복할 수 있었다.</a:t>
            </a:r>
          </a:p>
        </p:txBody>
      </p:sp>
    </p:spTree>
    <p:extLst>
      <p:ext uri="{BB962C8B-B14F-4D97-AF65-F5344CB8AC3E}">
        <p14:creationId xmlns:p14="http://schemas.microsoft.com/office/powerpoint/2010/main" val="48065501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DF49E7-25EC-4703-AADE-FBBFC7DD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99E2ED-C39D-4128-84E4-3682CC50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7068EDFE-8419-42DA-8723-B0267C58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D7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4DD7FF"/>
                </a:solidFill>
                <a:latin typeface="Malgun Gothic"/>
                <a:ea typeface="Malgun Gothic"/>
                <a:cs typeface="Malgun Gothic"/>
              </a:rPr>
              <a:t>한계점</a:t>
            </a:r>
          </a:p>
        </p:txBody>
      </p:sp>
      <p:sp>
        <p:nvSpPr>
          <p:cNvPr id="4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AC9130FA-F79E-4E7D-8CE5-E8342E74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A1FC9-3647-46DF-AD3B-4C2F9DCE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579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6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66071"/>
                </a:solidFill>
                <a:latin typeface="Malgun Gothic"/>
                <a:ea typeface="Malgun Gothic"/>
                <a:cs typeface="Malgun Gothic"/>
              </a:rPr>
              <a:t>Sources: amptest/run/ac_response.png, Best/trial_0066/ppa_metrics.json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566D16-EBAD-4AA7-A2B3-E9D2380F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660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07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80E930-C883-4D59-8B2B-8B83464E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382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AI를 재귀적으로 돌려도</a:t>
            </a:r>
          </a:p>
          <a:p xmlns:a="http://schemas.openxmlformats.org/drawingml/2006/main">
            <a:pPr algn="l">
              <a:def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회로 품질은 자동으로 보장되지 않았다.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60E4C0-550E-4214-A71E-FE93602F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885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LangGraph는 반복과 검증을 견고하게 만들지만, 어떤 topology가 물리적으로 타당한지는 여전히 도메인 지식과 중간 개입이 필요했다.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38664B-2CD9-456B-827C-779D1F35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65722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2ccb8a0b2b4482"/>
          <a:stretch xmlns:a="http://schemas.openxmlformats.org/drawingml/2006/main"/>
        </p:blipFill>
        <p:spPr>
          <a:xfrm xmlns:a="http://schemas.openxmlformats.org/drawingml/2006/main">
            <a:off x="1341796" y="2990850"/>
            <a:ext cx="5069758" cy="3143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65015-C9F0-4210-97DC-FAA91AC6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57500"/>
            <a:ext cx="32385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2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3787BB-F0C1-42A3-8811-F01B3589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6230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DD7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4DD7FF"/>
                </a:solidFill>
                <a:latin typeface="Aptos Display"/>
                <a:ea typeface="Aptos Display"/>
                <a:cs typeface="Aptos Display"/>
              </a:rPr>
              <a:t>38.54 dB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5A8DF3-A0AC-42C2-9289-74167FBB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623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midband gain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B92E6A-606D-4EF8-80A3-957EC335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3860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0F0A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70F0A0"/>
                </a:solidFill>
                <a:latin typeface="Aptos Display"/>
                <a:ea typeface="Aptos Display"/>
                <a:cs typeface="Aptos Display"/>
              </a:rPr>
              <a:t>55.7 Hz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5DE494-F73B-458B-A7D4-2F638CCC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386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lower -3dB point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936AEA-A161-440B-9437-BFA9D29C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1490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CA5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CA5C"/>
                </a:solidFill>
                <a:latin typeface="Aptos Display"/>
                <a:ea typeface="Aptos Display"/>
                <a:cs typeface="Aptos Display"/>
              </a:rPr>
              <a:t>20.6 kHz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2C2462-150A-4903-8E4A-2134B8AE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3149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upper -3dB point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9F1AB1-B5DC-43EE-91FD-7E80515E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676900"/>
            <a:ext cx="2514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그래프 구조는 후보를 계속 만들 수 있다.</a:t>
            </a:r>
          </a:p>
          <a:p xmlns:a="http://schemas.openxmlformats.org/drawingml/2006/main">
            <a:pPr algn="l">
              <a:defRPr sz="10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하지만 유효한 회로는 bias, pole/zero, swing, area trade-off를 사람이 해석해야 나온다.</a:t>
            </a:r>
          </a:p>
        </p:txBody>
      </p:sp>
    </p:spTree>
    <p:extLst>
      <p:ext uri="{BB962C8B-B14F-4D97-AF65-F5344CB8AC3E}">
        <p14:creationId xmlns:p14="http://schemas.microsoft.com/office/powerpoint/2010/main" val="153515412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4EAEF3-0940-431C-9CF4-DC623783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CB95B-8BF7-4DFE-AB2A-C1DD25F5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FBD51091-8C64-4A0A-86AD-562BDED0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D7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4DD7FF"/>
                </a:solidFill>
                <a:latin typeface="Malgun Gothic"/>
                <a:ea typeface="Malgun Gothic"/>
                <a:cs typeface="Malgun Gothic"/>
              </a:rPr>
              <a:t>깨달은점</a:t>
            </a:r>
          </a:p>
        </p:txBody>
      </p:sp>
      <p:sp>
        <p:nvSpPr>
          <p:cNvPr id="4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D0B50A94-9103-4386-9563-D252355F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21FA5-3F58-4D33-83E9-944C945E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579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6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66071"/>
                </a:solidFill>
                <a:latin typeface="Malgun Gothic"/>
                <a:ea typeface="Malgun Gothic"/>
                <a:cs typeface="Malgun Gothic"/>
              </a:rPr>
              <a:t>Synthesis from LangGraph runner implementation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2AA1F-1048-49AA-9494-4080E4AF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660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07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D74FC-AF5B-4C05-8512-10D559A5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33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Agentic AI의 핵심은</a:t>
            </a:r>
          </a:p>
          <a:p xmlns:a="http://schemas.openxmlformats.org/drawingml/2006/main">
            <a:pPr algn="l">
              <a:def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똑똑한 모델보다 검증 가능한 실행 구조다.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2D6F40-0FCD-4A43-873A-684AC88F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4762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9"/>
          </a:solidFill>
          <a:ln xmlns:a="http://schemas.openxmlformats.org/drawingml/2006/main" w="9525">
            <a:solidFill>
              <a:srgbClr val="4DD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B53522-97FF-441F-879D-986A75AA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24150"/>
            <a:ext cx="4762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9525">
            <a:solidFill>
              <a:srgbClr val="70F0A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BBD779-6F5F-4933-A66E-1BA97E10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670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DD7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4DD7FF"/>
                </a:solidFill>
                <a:latin typeface="Malgun Gothic"/>
                <a:ea typeface="Malgun Gothic"/>
                <a:cs typeface="Malgun Gothic"/>
              </a:rPr>
              <a:t>LLM이 잘하는 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454228-3AE8-45A1-B638-E0FBFFA9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6705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0F0A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70F0A0"/>
                </a:solidFill>
                <a:latin typeface="Malgun Gothic"/>
                <a:ea typeface="Malgun Gothic"/>
                <a:cs typeface="Malgun Gothic"/>
              </a:rPr>
              <a:t>시스템이 책임져야 할 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FE51A5-82CB-4060-B2FF-DF46A490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71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5CEB43-51AD-46BB-B2E0-109BA8DE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9570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새 topology 가설 만들기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8A48B4-A788-4AFB-9D83-1C7F4303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4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4F0FEF-6920-42A2-93F4-7D1ED65F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7195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실패 원인을 자연어로 정리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02BCE7-318D-4040-92CE-357E79A6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4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9F0AA8-949D-48A5-B67E-5DEC5313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4820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다음 탐색 방향 제안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948444-C817-4370-B503-3E526150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771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F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FC63A5-FF0C-4B41-B7E4-B41D1B9B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9570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상태와 로그 보존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2BD330-AEB9-4148-9114-F93907CE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4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F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183E34-3013-453D-9F37-3C982FAA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7195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도구 실행과 검증 분리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078C27-9414-49FE-831F-FE86DFAA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724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F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622F2C-57AC-4257-A13F-CC391F73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4820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accept / reject / interrupt 결정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1F961A-BD73-41A8-A911-1167FA1B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3880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결론: Agent는 답변자가 아니라, 실행 구조 안에서 제한된 책임을 맡는 작업자에 가깝다.</a:t>
            </a:r>
          </a:p>
        </p:txBody>
      </p:sp>
    </p:spTree>
    <p:extLst>
      <p:ext uri="{BB962C8B-B14F-4D97-AF65-F5344CB8AC3E}">
        <p14:creationId xmlns:p14="http://schemas.microsoft.com/office/powerpoint/2010/main" val="164283220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AA867E-0A27-4450-9ED8-ACB1231E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6E3C3-E17A-4880-9789-896A931F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3C6EA-6E4A-46C3-83F2-1D214C4D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660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07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67D134-20E2-402B-9249-BC791B18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54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The 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DEA577-DFE5-4D17-8B43-F8B3EC42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95700"/>
            <a:ext cx="3162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C5ABA-0181-4073-815B-61493A02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9575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Agent는 답변자가 아니라 실행 구조 안의 작업자</a:t>
            </a:r>
          </a:p>
        </p:txBody>
      </p:sp>
    </p:spTree>
    <p:extLst>
      <p:ext uri="{BB962C8B-B14F-4D97-AF65-F5344CB8AC3E}">
        <p14:creationId xmlns:p14="http://schemas.microsoft.com/office/powerpoint/2010/main" val="5190661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2026-06-10T05:11:28.4130000Z</dcterms:created>
  <dcterms:modified xsi:type="dcterms:W3CDTF">2026-06-10T05:11:28.4130000Z</dcterms:modified>
</coreProperties>
</file>